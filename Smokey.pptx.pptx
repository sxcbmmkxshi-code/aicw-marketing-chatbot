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al Bold" charset="1" panose="020B0704020202020204"/>
      <p:regular r:id="rId20"/>
    </p:embeddedFont>
    <p:embeddedFont>
      <p:font typeface="Arial" charset="1" panose="020B0604020202020204"/>
      <p:regular r:id="rId21"/>
    </p:embeddedFont>
    <p:embeddedFont>
      <p:font typeface="Lato Bold" charset="1" panose="020F0502020204030203"/>
      <p:regular r:id="rId23"/>
    </p:embeddedFont>
    <p:embeddedFont>
      <p:font typeface="Lato" charset="1" panose="020F0502020204030203"/>
      <p:regular r:id="rId24"/>
    </p:embeddedFont>
    <p:embeddedFont>
      <p:font typeface="Calibri (MS) Bold" charset="1" panose="020F0702030404030204"/>
      <p:regular r:id="rId31"/>
    </p:embeddedFont>
    <p:embeddedFont>
      <p:font typeface="Calibri (MS)" charset="1" panose="020F0502020204030204"/>
      <p:regular r:id="rId32"/>
    </p:embeddedFont>
    <p:embeddedFont>
      <p:font typeface="Calibri (MS) Italics" charset="1" panose="020F05020202040A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4.png" Type="http://schemas.openxmlformats.org/officeDocument/2006/relationships/image"/><Relationship Id="rId17" Target="../media/image15.svg" Type="http://schemas.openxmlformats.org/officeDocument/2006/relationships/image"/><Relationship Id="rId18" Target="../media/image16.png" Type="http://schemas.openxmlformats.org/officeDocument/2006/relationships/image"/><Relationship Id="rId19" Target="../media/image17.svg" Type="http://schemas.openxmlformats.org/officeDocument/2006/relationships/image"/><Relationship Id="rId2" Target="../notesSlides/notesSlide1.xml" Type="http://schemas.openxmlformats.org/officeDocument/2006/relationships/notesSlide"/><Relationship Id="rId20" Target="../media/image18.png" Type="http://schemas.openxmlformats.org/officeDocument/2006/relationships/image"/><Relationship Id="rId21" Target="../media/image19.svg" Type="http://schemas.openxmlformats.org/officeDocument/2006/relationships/image"/><Relationship Id="rId22" Target="../media/image20.png" Type="http://schemas.openxmlformats.org/officeDocument/2006/relationships/image"/><Relationship Id="rId23" Target="../media/image21.svg" Type="http://schemas.openxmlformats.org/officeDocument/2006/relationships/image"/><Relationship Id="rId24" Target="../media/image22.png" Type="http://schemas.openxmlformats.org/officeDocument/2006/relationships/image"/><Relationship Id="rId25" Target="../media/image23.svg" Type="http://schemas.openxmlformats.org/officeDocument/2006/relationships/image"/><Relationship Id="rId26" Target="../media/image24.png" Type="http://schemas.openxmlformats.org/officeDocument/2006/relationships/image"/><Relationship Id="rId27" Target="../media/image25.png" Type="http://schemas.openxmlformats.org/officeDocument/2006/relationships/image"/><Relationship Id="rId28" Target="../media/image26.png" Type="http://schemas.openxmlformats.org/officeDocument/2006/relationships/image"/><Relationship Id="rId29" Target="../media/image27.png" Type="http://schemas.openxmlformats.org/officeDocument/2006/relationships/image"/><Relationship Id="rId3" Target="../media/image1.png" Type="http://schemas.openxmlformats.org/officeDocument/2006/relationships/image"/><Relationship Id="rId30" Target="../media/image28.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 Id="rId9" Target="../media/image3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 Id="rId9" Target="../media/image3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32.jpeg" Type="http://schemas.openxmlformats.org/officeDocument/2006/relationships/image"/><Relationship Id="rId9" Target="../media/image2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 Id="rId9" Target="../media/image3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 Id="rId9" Target="https://github.com/sxcbmmkxshi-code/AICW-Marketing-chatbot.git"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https://canva.link/ixge2us2grfod2l" TargetMode="External" Type="http://schemas.openxmlformats.org/officeDocument/2006/relationships/hyperlink"/><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 Id="rId9" Target="../media/image3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 Id="rId9"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 Id="rId9"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2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sp>
        <p:nvSpPr>
          <p:cNvPr name="Freeform 6" id="6"/>
          <p:cNvSpPr/>
          <p:nvPr/>
        </p:nvSpPr>
        <p:spPr>
          <a:xfrm flipH="false" flipV="false" rot="0">
            <a:off x="0" y="-144666"/>
            <a:ext cx="8306733" cy="397021"/>
          </a:xfrm>
          <a:custGeom>
            <a:avLst/>
            <a:gdLst/>
            <a:ahLst/>
            <a:cxnLst/>
            <a:rect r="r" b="b" t="t" l="l"/>
            <a:pathLst>
              <a:path h="397021" w="8306733">
                <a:moveTo>
                  <a:pt x="0" y="0"/>
                </a:moveTo>
                <a:lnTo>
                  <a:pt x="8306733" y="0"/>
                </a:lnTo>
                <a:lnTo>
                  <a:pt x="8306733" y="397021"/>
                </a:lnTo>
                <a:lnTo>
                  <a:pt x="0" y="3970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0" y="9889979"/>
            <a:ext cx="15142588" cy="397021"/>
          </a:xfrm>
          <a:custGeom>
            <a:avLst/>
            <a:gdLst/>
            <a:ahLst/>
            <a:cxnLst/>
            <a:rect r="r" b="b" t="t" l="l"/>
            <a:pathLst>
              <a:path h="397021" w="15142588">
                <a:moveTo>
                  <a:pt x="0" y="0"/>
                </a:moveTo>
                <a:lnTo>
                  <a:pt x="15142588" y="0"/>
                </a:lnTo>
                <a:lnTo>
                  <a:pt x="15142588" y="397021"/>
                </a:lnTo>
                <a:lnTo>
                  <a:pt x="0" y="3970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7170153" y="-3792731"/>
            <a:ext cx="9613697" cy="9613697"/>
          </a:xfrm>
          <a:custGeom>
            <a:avLst/>
            <a:gdLst/>
            <a:ahLst/>
            <a:cxnLst/>
            <a:rect r="r" b="b" t="t" l="l"/>
            <a:pathLst>
              <a:path h="9613697" w="9613697">
                <a:moveTo>
                  <a:pt x="0" y="0"/>
                </a:moveTo>
                <a:lnTo>
                  <a:pt x="9613697" y="0"/>
                </a:lnTo>
                <a:lnTo>
                  <a:pt x="9613697" y="9613697"/>
                </a:lnTo>
                <a:lnTo>
                  <a:pt x="0" y="961369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1602831" y="-1816017"/>
            <a:ext cx="6874221" cy="6874221"/>
          </a:xfrm>
          <a:custGeom>
            <a:avLst/>
            <a:gdLst/>
            <a:ahLst/>
            <a:cxnLst/>
            <a:rect r="r" b="b" t="t" l="l"/>
            <a:pathLst>
              <a:path h="6874221" w="6874221">
                <a:moveTo>
                  <a:pt x="0" y="0"/>
                </a:moveTo>
                <a:lnTo>
                  <a:pt x="6874221" y="0"/>
                </a:lnTo>
                <a:lnTo>
                  <a:pt x="6874221" y="6874221"/>
                </a:lnTo>
                <a:lnTo>
                  <a:pt x="0" y="687422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4507299" y="-3343989"/>
            <a:ext cx="6948468" cy="6948468"/>
          </a:xfrm>
          <a:custGeom>
            <a:avLst/>
            <a:gdLst/>
            <a:ahLst/>
            <a:cxnLst/>
            <a:rect r="r" b="b" t="t" l="l"/>
            <a:pathLst>
              <a:path h="6948468" w="6948468">
                <a:moveTo>
                  <a:pt x="0" y="0"/>
                </a:moveTo>
                <a:lnTo>
                  <a:pt x="6948468" y="0"/>
                </a:lnTo>
                <a:lnTo>
                  <a:pt x="6948468" y="6948468"/>
                </a:lnTo>
                <a:lnTo>
                  <a:pt x="0" y="694846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0">
            <a:off x="13360298" y="5272659"/>
            <a:ext cx="9613697" cy="9613697"/>
          </a:xfrm>
          <a:custGeom>
            <a:avLst/>
            <a:gdLst/>
            <a:ahLst/>
            <a:cxnLst/>
            <a:rect r="r" b="b" t="t" l="l"/>
            <a:pathLst>
              <a:path h="9613697" w="9613697">
                <a:moveTo>
                  <a:pt x="0" y="0"/>
                </a:moveTo>
                <a:lnTo>
                  <a:pt x="9613697" y="0"/>
                </a:lnTo>
                <a:lnTo>
                  <a:pt x="9613697" y="9613697"/>
                </a:lnTo>
                <a:lnTo>
                  <a:pt x="0" y="961369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5522740" y="6040336"/>
            <a:ext cx="4759490" cy="4759490"/>
          </a:xfrm>
          <a:custGeom>
            <a:avLst/>
            <a:gdLst/>
            <a:ahLst/>
            <a:cxnLst/>
            <a:rect r="r" b="b" t="t" l="l"/>
            <a:pathLst>
              <a:path h="4759490" w="4759490">
                <a:moveTo>
                  <a:pt x="0" y="0"/>
                </a:moveTo>
                <a:lnTo>
                  <a:pt x="4759490" y="0"/>
                </a:lnTo>
                <a:lnTo>
                  <a:pt x="4759490" y="4759490"/>
                </a:lnTo>
                <a:lnTo>
                  <a:pt x="0" y="475949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11867764" y="1991830"/>
            <a:ext cx="6951421" cy="6951421"/>
          </a:xfrm>
          <a:custGeom>
            <a:avLst/>
            <a:gdLst/>
            <a:ahLst/>
            <a:cxnLst/>
            <a:rect r="r" b="b" t="t" l="l"/>
            <a:pathLst>
              <a:path h="6951421" w="6951421">
                <a:moveTo>
                  <a:pt x="0" y="0"/>
                </a:moveTo>
                <a:lnTo>
                  <a:pt x="6951421" y="0"/>
                </a:lnTo>
                <a:lnTo>
                  <a:pt x="6951421" y="6951421"/>
                </a:lnTo>
                <a:lnTo>
                  <a:pt x="0" y="695142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4" id="14"/>
          <p:cNvSpPr/>
          <p:nvPr/>
        </p:nvSpPr>
        <p:spPr>
          <a:xfrm flipH="false" flipV="false" rot="0">
            <a:off x="9629632" y="985628"/>
            <a:ext cx="1714129" cy="319259"/>
          </a:xfrm>
          <a:custGeom>
            <a:avLst/>
            <a:gdLst/>
            <a:ahLst/>
            <a:cxnLst/>
            <a:rect r="r" b="b" t="t" l="l"/>
            <a:pathLst>
              <a:path h="319259" w="1714129">
                <a:moveTo>
                  <a:pt x="0" y="0"/>
                </a:moveTo>
                <a:lnTo>
                  <a:pt x="1714129" y="0"/>
                </a:lnTo>
                <a:lnTo>
                  <a:pt x="1714129" y="319259"/>
                </a:lnTo>
                <a:lnTo>
                  <a:pt x="0" y="319259"/>
                </a:lnTo>
                <a:lnTo>
                  <a:pt x="0" y="0"/>
                </a:lnTo>
                <a:close/>
              </a:path>
            </a:pathLst>
          </a:custGeom>
          <a:blipFill>
            <a:blip r:embed="rId22">
              <a:extLst>
                <a:ext uri="{96DAC541-7B7A-43D3-8B79-37D633B846F1}">
                  <asvg:svgBlip xmlns:asvg="http://schemas.microsoft.com/office/drawing/2016/SVG/main" r:embed="rId23"/>
                </a:ext>
              </a:extLst>
            </a:blip>
            <a:stretch>
              <a:fillRect l="0" t="-707" r="0" b="-710"/>
            </a:stretch>
          </a:blipFill>
        </p:spPr>
      </p:sp>
      <p:sp>
        <p:nvSpPr>
          <p:cNvPr name="Freeform 15" id="15"/>
          <p:cNvSpPr/>
          <p:nvPr/>
        </p:nvSpPr>
        <p:spPr>
          <a:xfrm flipH="false" flipV="false" rot="0">
            <a:off x="16871871" y="8765753"/>
            <a:ext cx="1714129" cy="319259"/>
          </a:xfrm>
          <a:custGeom>
            <a:avLst/>
            <a:gdLst/>
            <a:ahLst/>
            <a:cxnLst/>
            <a:rect r="r" b="b" t="t" l="l"/>
            <a:pathLst>
              <a:path h="319259" w="1714129">
                <a:moveTo>
                  <a:pt x="0" y="0"/>
                </a:moveTo>
                <a:lnTo>
                  <a:pt x="1714128" y="0"/>
                </a:lnTo>
                <a:lnTo>
                  <a:pt x="1714128" y="319259"/>
                </a:lnTo>
                <a:lnTo>
                  <a:pt x="0" y="319259"/>
                </a:lnTo>
                <a:lnTo>
                  <a:pt x="0" y="0"/>
                </a:lnTo>
                <a:close/>
              </a:path>
            </a:pathLst>
          </a:custGeom>
          <a:blipFill>
            <a:blip r:embed="rId22">
              <a:extLst>
                <a:ext uri="{96DAC541-7B7A-43D3-8B79-37D633B846F1}">
                  <asvg:svgBlip xmlns:asvg="http://schemas.microsoft.com/office/drawing/2016/SVG/main" r:embed="rId23"/>
                </a:ext>
              </a:extLst>
            </a:blip>
            <a:stretch>
              <a:fillRect l="0" t="-707" r="0" b="-710"/>
            </a:stretch>
          </a:blipFill>
        </p:spPr>
      </p:sp>
      <p:sp>
        <p:nvSpPr>
          <p:cNvPr name="Freeform 16" id="16"/>
          <p:cNvSpPr/>
          <p:nvPr/>
        </p:nvSpPr>
        <p:spPr>
          <a:xfrm flipH="false" flipV="false" rot="0">
            <a:off x="17452515" y="9144000"/>
            <a:ext cx="1714129" cy="319259"/>
          </a:xfrm>
          <a:custGeom>
            <a:avLst/>
            <a:gdLst/>
            <a:ahLst/>
            <a:cxnLst/>
            <a:rect r="r" b="b" t="t" l="l"/>
            <a:pathLst>
              <a:path h="319259" w="1714129">
                <a:moveTo>
                  <a:pt x="0" y="0"/>
                </a:moveTo>
                <a:lnTo>
                  <a:pt x="1714128" y="0"/>
                </a:lnTo>
                <a:lnTo>
                  <a:pt x="1714128" y="319259"/>
                </a:lnTo>
                <a:lnTo>
                  <a:pt x="0" y="319259"/>
                </a:lnTo>
                <a:lnTo>
                  <a:pt x="0" y="0"/>
                </a:lnTo>
                <a:close/>
              </a:path>
            </a:pathLst>
          </a:custGeom>
          <a:blipFill>
            <a:blip r:embed="rId22">
              <a:extLst>
                <a:ext uri="{96DAC541-7B7A-43D3-8B79-37D633B846F1}">
                  <asvg:svgBlip xmlns:asvg="http://schemas.microsoft.com/office/drawing/2016/SVG/main" r:embed="rId23"/>
                </a:ext>
              </a:extLst>
            </a:blip>
            <a:stretch>
              <a:fillRect l="0" t="-707" r="0" b="-710"/>
            </a:stretch>
          </a:blipFill>
        </p:spPr>
      </p:sp>
      <p:sp>
        <p:nvSpPr>
          <p:cNvPr name="Freeform 17" id="17"/>
          <p:cNvSpPr/>
          <p:nvPr/>
        </p:nvSpPr>
        <p:spPr>
          <a:xfrm flipH="false" flipV="false" rot="0">
            <a:off x="-38014" y="5857351"/>
            <a:ext cx="8448665" cy="862155"/>
          </a:xfrm>
          <a:custGeom>
            <a:avLst/>
            <a:gdLst/>
            <a:ahLst/>
            <a:cxnLst/>
            <a:rect r="r" b="b" t="t" l="l"/>
            <a:pathLst>
              <a:path h="862155" w="8448665">
                <a:moveTo>
                  <a:pt x="0" y="0"/>
                </a:moveTo>
                <a:lnTo>
                  <a:pt x="8448665" y="0"/>
                </a:lnTo>
                <a:lnTo>
                  <a:pt x="8448665" y="862155"/>
                </a:lnTo>
                <a:lnTo>
                  <a:pt x="0" y="86215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TextBox 18" id="18"/>
          <p:cNvSpPr txBox="true"/>
          <p:nvPr/>
        </p:nvSpPr>
        <p:spPr>
          <a:xfrm rot="0">
            <a:off x="895436" y="6020667"/>
            <a:ext cx="7618819" cy="513845"/>
          </a:xfrm>
          <a:prstGeom prst="rect">
            <a:avLst/>
          </a:prstGeom>
        </p:spPr>
        <p:txBody>
          <a:bodyPr anchor="t" rtlCol="false" tIns="0" lIns="0" bIns="0" rIns="0">
            <a:spAutoFit/>
          </a:bodyPr>
          <a:lstStyle/>
          <a:p>
            <a:pPr algn="l">
              <a:lnSpc>
                <a:spcPts val="3886"/>
              </a:lnSpc>
            </a:pPr>
            <a:r>
              <a:rPr lang="en-US" b="true" sz="2799" spc="1165">
                <a:solidFill>
                  <a:srgbClr val="FFFFFF"/>
                </a:solidFill>
                <a:latin typeface="Arial Bold"/>
                <a:ea typeface="Arial Bold"/>
                <a:cs typeface="Arial Bold"/>
                <a:sym typeface="Arial Bold"/>
              </a:rPr>
              <a:t>PRESENTATION 2026</a:t>
            </a:r>
          </a:p>
        </p:txBody>
      </p:sp>
      <p:sp>
        <p:nvSpPr>
          <p:cNvPr name="TextBox 19" id="19"/>
          <p:cNvSpPr txBox="true"/>
          <p:nvPr/>
        </p:nvSpPr>
        <p:spPr>
          <a:xfrm rot="0">
            <a:off x="4605566" y="8670303"/>
            <a:ext cx="3266865" cy="327470"/>
          </a:xfrm>
          <a:prstGeom prst="rect">
            <a:avLst/>
          </a:prstGeom>
        </p:spPr>
        <p:txBody>
          <a:bodyPr anchor="t" rtlCol="false" tIns="0" lIns="0" bIns="0" rIns="0">
            <a:spAutoFit/>
          </a:bodyPr>
          <a:lstStyle/>
          <a:p>
            <a:pPr algn="l">
              <a:lnSpc>
                <a:spcPts val="2592"/>
              </a:lnSpc>
            </a:pPr>
            <a:r>
              <a:rPr lang="en-US" sz="2000">
                <a:solidFill>
                  <a:srgbClr val="000000"/>
                </a:solidFill>
                <a:latin typeface="Arial"/>
                <a:ea typeface="Arial"/>
                <a:cs typeface="Arial"/>
                <a:sym typeface="Arial"/>
              </a:rPr>
              <a:t>Student Name</a:t>
            </a:r>
          </a:p>
        </p:txBody>
      </p:sp>
      <p:sp>
        <p:nvSpPr>
          <p:cNvPr name="TextBox 20" id="20"/>
          <p:cNvSpPr txBox="true"/>
          <p:nvPr/>
        </p:nvSpPr>
        <p:spPr>
          <a:xfrm rot="0">
            <a:off x="4605557" y="8819426"/>
            <a:ext cx="3266865" cy="486283"/>
          </a:xfrm>
          <a:prstGeom prst="rect">
            <a:avLst/>
          </a:prstGeom>
        </p:spPr>
        <p:txBody>
          <a:bodyPr anchor="t" rtlCol="false" tIns="0" lIns="0" bIns="0" rIns="0">
            <a:spAutoFit/>
          </a:bodyPr>
          <a:lstStyle/>
          <a:p>
            <a:pPr algn="l">
              <a:lnSpc>
                <a:spcPts val="4076"/>
              </a:lnSpc>
            </a:pPr>
            <a:r>
              <a:rPr lang="en-US" sz="2400" b="true">
                <a:solidFill>
                  <a:srgbClr val="0D358D"/>
                </a:solidFill>
                <a:latin typeface="Arial Bold"/>
                <a:ea typeface="Arial Bold"/>
                <a:cs typeface="Arial Bold"/>
                <a:sym typeface="Arial Bold"/>
              </a:rPr>
              <a:t>Khushi Parikh</a:t>
            </a:r>
          </a:p>
        </p:txBody>
      </p:sp>
      <p:grpSp>
        <p:nvGrpSpPr>
          <p:cNvPr name="Group 21" id="21"/>
          <p:cNvGrpSpPr/>
          <p:nvPr/>
        </p:nvGrpSpPr>
        <p:grpSpPr>
          <a:xfrm rot="0">
            <a:off x="3758032" y="8672265"/>
            <a:ext cx="790661" cy="763591"/>
            <a:chOff x="0" y="0"/>
            <a:chExt cx="1054214" cy="1018121"/>
          </a:xfrm>
        </p:grpSpPr>
        <p:sp>
          <p:nvSpPr>
            <p:cNvPr name="Freeform 22" id="22" descr="A blue circle with a person and a envelope in it  AI-generated content may be incorrect."/>
            <p:cNvSpPr/>
            <p:nvPr/>
          </p:nvSpPr>
          <p:spPr>
            <a:xfrm flipH="false" flipV="false" rot="0">
              <a:off x="0" y="0"/>
              <a:ext cx="1054227" cy="1018159"/>
            </a:xfrm>
            <a:custGeom>
              <a:avLst/>
              <a:gdLst/>
              <a:ahLst/>
              <a:cxnLst/>
              <a:rect r="r" b="b" t="t" l="l"/>
              <a:pathLst>
                <a:path h="1018159" w="1054227">
                  <a:moveTo>
                    <a:pt x="0" y="0"/>
                  </a:moveTo>
                  <a:lnTo>
                    <a:pt x="1054227" y="0"/>
                  </a:lnTo>
                  <a:lnTo>
                    <a:pt x="1054227" y="1018159"/>
                  </a:lnTo>
                  <a:lnTo>
                    <a:pt x="0" y="1018159"/>
                  </a:lnTo>
                  <a:lnTo>
                    <a:pt x="0" y="0"/>
                  </a:lnTo>
                  <a:close/>
                </a:path>
              </a:pathLst>
            </a:custGeom>
            <a:blipFill>
              <a:blip r:embed="rId26"/>
              <a:stretch>
                <a:fillRect l="-58935" t="-5594" r="-61323" b="-122467"/>
              </a:stretch>
            </a:blipFill>
          </p:spPr>
        </p:sp>
      </p:grpSp>
      <p:sp>
        <p:nvSpPr>
          <p:cNvPr name="TextBox 23" id="23"/>
          <p:cNvSpPr txBox="true"/>
          <p:nvPr/>
        </p:nvSpPr>
        <p:spPr>
          <a:xfrm rot="0">
            <a:off x="7848467" y="8540020"/>
            <a:ext cx="3619957" cy="327470"/>
          </a:xfrm>
          <a:prstGeom prst="rect">
            <a:avLst/>
          </a:prstGeom>
        </p:spPr>
        <p:txBody>
          <a:bodyPr anchor="t" rtlCol="false" tIns="0" lIns="0" bIns="0" rIns="0">
            <a:spAutoFit/>
          </a:bodyPr>
          <a:lstStyle/>
          <a:p>
            <a:pPr algn="l">
              <a:lnSpc>
                <a:spcPts val="2592"/>
              </a:lnSpc>
            </a:pPr>
            <a:r>
              <a:rPr lang="en-US" sz="2000">
                <a:solidFill>
                  <a:srgbClr val="000000"/>
                </a:solidFill>
                <a:latin typeface="Arial"/>
                <a:ea typeface="Arial"/>
                <a:cs typeface="Arial"/>
                <a:sym typeface="Arial"/>
              </a:rPr>
              <a:t>Student Email</a:t>
            </a:r>
          </a:p>
        </p:txBody>
      </p:sp>
      <p:sp>
        <p:nvSpPr>
          <p:cNvPr name="TextBox 24" id="24"/>
          <p:cNvSpPr txBox="true"/>
          <p:nvPr/>
        </p:nvSpPr>
        <p:spPr>
          <a:xfrm rot="0">
            <a:off x="7890024" y="8702993"/>
            <a:ext cx="5931980" cy="1000633"/>
          </a:xfrm>
          <a:prstGeom prst="rect">
            <a:avLst/>
          </a:prstGeom>
        </p:spPr>
        <p:txBody>
          <a:bodyPr anchor="t" rtlCol="false" tIns="0" lIns="0" bIns="0" rIns="0">
            <a:spAutoFit/>
          </a:bodyPr>
          <a:lstStyle/>
          <a:p>
            <a:pPr algn="l">
              <a:lnSpc>
                <a:spcPts val="4076"/>
              </a:lnSpc>
            </a:pPr>
            <a:r>
              <a:rPr lang="en-US" sz="2400" b="true">
                <a:solidFill>
                  <a:srgbClr val="0D358D"/>
                </a:solidFill>
                <a:latin typeface="Arial Bold"/>
                <a:ea typeface="Arial Bold"/>
                <a:cs typeface="Arial Bold"/>
                <a:sym typeface="Arial Bold"/>
              </a:rPr>
              <a:t>KhushiParikh@nirmaanorg.onmicrosoft.com</a:t>
            </a:r>
          </a:p>
        </p:txBody>
      </p:sp>
      <p:grpSp>
        <p:nvGrpSpPr>
          <p:cNvPr name="Group 25" id="25"/>
          <p:cNvGrpSpPr/>
          <p:nvPr/>
        </p:nvGrpSpPr>
        <p:grpSpPr>
          <a:xfrm rot="0">
            <a:off x="7046595" y="8636822"/>
            <a:ext cx="796557" cy="779440"/>
            <a:chOff x="0" y="0"/>
            <a:chExt cx="1062076" cy="1039254"/>
          </a:xfrm>
        </p:grpSpPr>
        <p:sp>
          <p:nvSpPr>
            <p:cNvPr name="Freeform 26" id="26" descr="A blue circle with a person and a envelope in it  AI-generated content may be incorrect."/>
            <p:cNvSpPr/>
            <p:nvPr/>
          </p:nvSpPr>
          <p:spPr>
            <a:xfrm flipH="false" flipV="false" rot="0">
              <a:off x="0" y="0"/>
              <a:ext cx="1062101" cy="1039241"/>
            </a:xfrm>
            <a:custGeom>
              <a:avLst/>
              <a:gdLst/>
              <a:ahLst/>
              <a:cxnLst/>
              <a:rect r="r" b="b" t="t" l="l"/>
              <a:pathLst>
                <a:path h="1039241" w="1062101">
                  <a:moveTo>
                    <a:pt x="0" y="0"/>
                  </a:moveTo>
                  <a:lnTo>
                    <a:pt x="1062101" y="0"/>
                  </a:lnTo>
                  <a:lnTo>
                    <a:pt x="1062101" y="1039241"/>
                  </a:lnTo>
                  <a:lnTo>
                    <a:pt x="0" y="1039241"/>
                  </a:lnTo>
                  <a:lnTo>
                    <a:pt x="0" y="0"/>
                  </a:lnTo>
                  <a:close/>
                </a:path>
              </a:pathLst>
            </a:custGeom>
            <a:blipFill>
              <a:blip r:embed="rId26"/>
              <a:stretch>
                <a:fillRect l="-58052" t="-115699" r="-58083" b="-5190"/>
              </a:stretch>
            </a:blipFill>
          </p:spPr>
        </p:sp>
      </p:grpSp>
      <p:sp>
        <p:nvSpPr>
          <p:cNvPr name="TextBox 27" id="27"/>
          <p:cNvSpPr txBox="true"/>
          <p:nvPr/>
        </p:nvSpPr>
        <p:spPr>
          <a:xfrm rot="0">
            <a:off x="1720920" y="8655101"/>
            <a:ext cx="3619957" cy="336833"/>
          </a:xfrm>
          <a:prstGeom prst="rect">
            <a:avLst/>
          </a:prstGeom>
        </p:spPr>
        <p:txBody>
          <a:bodyPr anchor="t" rtlCol="false" tIns="0" lIns="0" bIns="0" rIns="0">
            <a:spAutoFit/>
          </a:bodyPr>
          <a:lstStyle/>
          <a:p>
            <a:pPr algn="l">
              <a:lnSpc>
                <a:spcPts val="2592"/>
              </a:lnSpc>
            </a:pPr>
            <a:r>
              <a:rPr lang="en-US" sz="2000">
                <a:solidFill>
                  <a:srgbClr val="000000"/>
                </a:solidFill>
                <a:latin typeface="Arial"/>
                <a:ea typeface="Arial"/>
                <a:cs typeface="Arial"/>
                <a:sym typeface="Arial"/>
              </a:rPr>
              <a:t>Mentor Name</a:t>
            </a:r>
          </a:p>
        </p:txBody>
      </p:sp>
      <p:sp>
        <p:nvSpPr>
          <p:cNvPr name="TextBox 28" id="28"/>
          <p:cNvSpPr txBox="true"/>
          <p:nvPr/>
        </p:nvSpPr>
        <p:spPr>
          <a:xfrm rot="0">
            <a:off x="1720920" y="8873500"/>
            <a:ext cx="4545740" cy="486283"/>
          </a:xfrm>
          <a:prstGeom prst="rect">
            <a:avLst/>
          </a:prstGeom>
        </p:spPr>
        <p:txBody>
          <a:bodyPr anchor="t" rtlCol="false" tIns="0" lIns="0" bIns="0" rIns="0">
            <a:spAutoFit/>
          </a:bodyPr>
          <a:lstStyle/>
          <a:p>
            <a:pPr algn="l">
              <a:lnSpc>
                <a:spcPts val="4076"/>
              </a:lnSpc>
            </a:pPr>
            <a:r>
              <a:rPr lang="en-US" sz="2400" b="true">
                <a:solidFill>
                  <a:srgbClr val="0D358D"/>
                </a:solidFill>
                <a:latin typeface="Arial Bold"/>
                <a:ea typeface="Arial Bold"/>
                <a:cs typeface="Arial Bold"/>
                <a:sym typeface="Arial Bold"/>
              </a:rPr>
              <a:t>Hrishikesh Sir</a:t>
            </a:r>
          </a:p>
        </p:txBody>
      </p:sp>
      <p:grpSp>
        <p:nvGrpSpPr>
          <p:cNvPr name="Group 29" id="29"/>
          <p:cNvGrpSpPr/>
          <p:nvPr/>
        </p:nvGrpSpPr>
        <p:grpSpPr>
          <a:xfrm rot="0">
            <a:off x="895436" y="8693896"/>
            <a:ext cx="751627" cy="762124"/>
            <a:chOff x="0" y="0"/>
            <a:chExt cx="1002170" cy="1016165"/>
          </a:xfrm>
        </p:grpSpPr>
        <p:sp>
          <p:nvSpPr>
            <p:cNvPr name="Freeform 30" id="30"/>
            <p:cNvSpPr/>
            <p:nvPr/>
          </p:nvSpPr>
          <p:spPr>
            <a:xfrm flipH="false" flipV="false" rot="0">
              <a:off x="0" y="0"/>
              <a:ext cx="1002157" cy="1016127"/>
            </a:xfrm>
            <a:custGeom>
              <a:avLst/>
              <a:gdLst/>
              <a:ahLst/>
              <a:cxnLst/>
              <a:rect r="r" b="b" t="t" l="l"/>
              <a:pathLst>
                <a:path h="1016127" w="1002157">
                  <a:moveTo>
                    <a:pt x="0" y="0"/>
                  </a:moveTo>
                  <a:lnTo>
                    <a:pt x="1002157" y="0"/>
                  </a:lnTo>
                  <a:lnTo>
                    <a:pt x="1002157" y="1016127"/>
                  </a:lnTo>
                  <a:lnTo>
                    <a:pt x="0" y="1016127"/>
                  </a:lnTo>
                  <a:lnTo>
                    <a:pt x="0" y="0"/>
                  </a:lnTo>
                  <a:close/>
                </a:path>
              </a:pathLst>
            </a:custGeom>
            <a:blipFill>
              <a:blip r:embed="rId27"/>
              <a:stretch>
                <a:fillRect l="-64858" t="-14896" r="-65880" b="-112669"/>
              </a:stretch>
            </a:blipFill>
          </p:spPr>
        </p:sp>
      </p:grpSp>
      <p:grpSp>
        <p:nvGrpSpPr>
          <p:cNvPr name="Group 31" id="31"/>
          <p:cNvGrpSpPr/>
          <p:nvPr/>
        </p:nvGrpSpPr>
        <p:grpSpPr>
          <a:xfrm rot="0">
            <a:off x="717061" y="1293114"/>
            <a:ext cx="7232066" cy="995439"/>
            <a:chOff x="0" y="0"/>
            <a:chExt cx="9642754" cy="1327252"/>
          </a:xfrm>
        </p:grpSpPr>
        <p:grpSp>
          <p:nvGrpSpPr>
            <p:cNvPr name="Group 32" id="32"/>
            <p:cNvGrpSpPr/>
            <p:nvPr/>
          </p:nvGrpSpPr>
          <p:grpSpPr>
            <a:xfrm rot="0">
              <a:off x="0" y="0"/>
              <a:ext cx="9642754" cy="1327252"/>
              <a:chOff x="0" y="0"/>
              <a:chExt cx="9642754" cy="1327252"/>
            </a:xfrm>
          </p:grpSpPr>
          <p:sp>
            <p:nvSpPr>
              <p:cNvPr name="Freeform 33" id="33"/>
              <p:cNvSpPr/>
              <p:nvPr/>
            </p:nvSpPr>
            <p:spPr>
              <a:xfrm flipH="false" flipV="false" rot="0">
                <a:off x="16891" y="16891"/>
                <a:ext cx="9608947" cy="1293368"/>
              </a:xfrm>
              <a:custGeom>
                <a:avLst/>
                <a:gdLst/>
                <a:ahLst/>
                <a:cxnLst/>
                <a:rect r="r" b="b" t="t" l="l"/>
                <a:pathLst>
                  <a:path h="1293368" w="9608947">
                    <a:moveTo>
                      <a:pt x="0" y="215646"/>
                    </a:moveTo>
                    <a:cubicBezTo>
                      <a:pt x="0" y="96520"/>
                      <a:pt x="98679" y="0"/>
                      <a:pt x="220472" y="0"/>
                    </a:cubicBezTo>
                    <a:lnTo>
                      <a:pt x="9388475" y="0"/>
                    </a:lnTo>
                    <a:cubicBezTo>
                      <a:pt x="9510269" y="0"/>
                      <a:pt x="9608947" y="96520"/>
                      <a:pt x="9608947" y="215519"/>
                    </a:cubicBezTo>
                    <a:lnTo>
                      <a:pt x="9608947" y="1077849"/>
                    </a:lnTo>
                    <a:cubicBezTo>
                      <a:pt x="9608947" y="1196848"/>
                      <a:pt x="9510269" y="1293368"/>
                      <a:pt x="9388475" y="1293368"/>
                    </a:cubicBezTo>
                    <a:lnTo>
                      <a:pt x="220472" y="1293368"/>
                    </a:lnTo>
                    <a:cubicBezTo>
                      <a:pt x="98679" y="1293368"/>
                      <a:pt x="0" y="1196848"/>
                      <a:pt x="0" y="1077849"/>
                    </a:cubicBezTo>
                    <a:close/>
                  </a:path>
                </a:pathLst>
              </a:custGeom>
              <a:solidFill>
                <a:srgbClr val="FFFFFF"/>
              </a:solidFill>
            </p:spPr>
          </p:sp>
          <p:sp>
            <p:nvSpPr>
              <p:cNvPr name="Freeform 34" id="34"/>
              <p:cNvSpPr/>
              <p:nvPr/>
            </p:nvSpPr>
            <p:spPr>
              <a:xfrm flipH="false" flipV="false" rot="0">
                <a:off x="0" y="0"/>
                <a:ext cx="9642729" cy="1327277"/>
              </a:xfrm>
              <a:custGeom>
                <a:avLst/>
                <a:gdLst/>
                <a:ahLst/>
                <a:cxnLst/>
                <a:rect r="r" b="b" t="t" l="l"/>
                <a:pathLst>
                  <a:path h="1327277" w="9642729">
                    <a:moveTo>
                      <a:pt x="0" y="232537"/>
                    </a:moveTo>
                    <a:cubicBezTo>
                      <a:pt x="0" y="103759"/>
                      <a:pt x="106680" y="0"/>
                      <a:pt x="237363" y="0"/>
                    </a:cubicBezTo>
                    <a:lnTo>
                      <a:pt x="9405366" y="0"/>
                    </a:lnTo>
                    <a:lnTo>
                      <a:pt x="9405366" y="16891"/>
                    </a:lnTo>
                    <a:lnTo>
                      <a:pt x="9405366" y="0"/>
                    </a:lnTo>
                    <a:cubicBezTo>
                      <a:pt x="9536049" y="0"/>
                      <a:pt x="9642729" y="103759"/>
                      <a:pt x="9642729" y="232537"/>
                    </a:cubicBezTo>
                    <a:lnTo>
                      <a:pt x="9625838" y="232537"/>
                    </a:lnTo>
                    <a:lnTo>
                      <a:pt x="9642729" y="232537"/>
                    </a:lnTo>
                    <a:lnTo>
                      <a:pt x="9642729" y="1094740"/>
                    </a:lnTo>
                    <a:lnTo>
                      <a:pt x="9625838" y="1094740"/>
                    </a:lnTo>
                    <a:lnTo>
                      <a:pt x="9642729" y="1094740"/>
                    </a:lnTo>
                    <a:cubicBezTo>
                      <a:pt x="9642729" y="1223518"/>
                      <a:pt x="9536049" y="1327277"/>
                      <a:pt x="9405366" y="1327277"/>
                    </a:cubicBezTo>
                    <a:lnTo>
                      <a:pt x="9405366" y="1310386"/>
                    </a:lnTo>
                    <a:lnTo>
                      <a:pt x="9405366" y="1327277"/>
                    </a:lnTo>
                    <a:lnTo>
                      <a:pt x="237363" y="1327277"/>
                    </a:lnTo>
                    <a:lnTo>
                      <a:pt x="237363" y="1310386"/>
                    </a:lnTo>
                    <a:lnTo>
                      <a:pt x="237363" y="1327277"/>
                    </a:lnTo>
                    <a:cubicBezTo>
                      <a:pt x="106680" y="1327277"/>
                      <a:pt x="0" y="1223518"/>
                      <a:pt x="0" y="1094740"/>
                    </a:cubicBezTo>
                    <a:lnTo>
                      <a:pt x="0" y="232537"/>
                    </a:lnTo>
                    <a:lnTo>
                      <a:pt x="16891" y="232537"/>
                    </a:lnTo>
                    <a:lnTo>
                      <a:pt x="0" y="232537"/>
                    </a:lnTo>
                    <a:moveTo>
                      <a:pt x="33909" y="232537"/>
                    </a:moveTo>
                    <a:lnTo>
                      <a:pt x="33909" y="1094740"/>
                    </a:lnTo>
                    <a:lnTo>
                      <a:pt x="16891" y="1094740"/>
                    </a:lnTo>
                    <a:lnTo>
                      <a:pt x="33909" y="1094740"/>
                    </a:lnTo>
                    <a:cubicBezTo>
                      <a:pt x="33909" y="1204087"/>
                      <a:pt x="124714" y="1293368"/>
                      <a:pt x="237363" y="1293368"/>
                    </a:cubicBezTo>
                    <a:lnTo>
                      <a:pt x="9405366" y="1293368"/>
                    </a:lnTo>
                    <a:cubicBezTo>
                      <a:pt x="9518142" y="1293368"/>
                      <a:pt x="9608820" y="1204087"/>
                      <a:pt x="9608820" y="1094740"/>
                    </a:cubicBezTo>
                    <a:lnTo>
                      <a:pt x="9608820" y="232537"/>
                    </a:lnTo>
                    <a:cubicBezTo>
                      <a:pt x="9608820" y="123190"/>
                      <a:pt x="9518015" y="33909"/>
                      <a:pt x="9405366" y="33909"/>
                    </a:cubicBezTo>
                    <a:lnTo>
                      <a:pt x="237363" y="33909"/>
                    </a:lnTo>
                    <a:lnTo>
                      <a:pt x="237363" y="16891"/>
                    </a:lnTo>
                    <a:lnTo>
                      <a:pt x="237363" y="33909"/>
                    </a:lnTo>
                    <a:cubicBezTo>
                      <a:pt x="124587" y="33909"/>
                      <a:pt x="33909" y="123190"/>
                      <a:pt x="33909" y="232537"/>
                    </a:cubicBezTo>
                    <a:close/>
                  </a:path>
                </a:pathLst>
              </a:custGeom>
              <a:solidFill>
                <a:srgbClr val="1D63B5"/>
              </a:solidFill>
            </p:spPr>
          </p:sp>
        </p:grpSp>
        <p:grpSp>
          <p:nvGrpSpPr>
            <p:cNvPr name="Group 35" id="35"/>
            <p:cNvGrpSpPr/>
            <p:nvPr/>
          </p:nvGrpSpPr>
          <p:grpSpPr>
            <a:xfrm rot="0">
              <a:off x="752539" y="328511"/>
              <a:ext cx="2377440" cy="596722"/>
              <a:chOff x="0" y="0"/>
              <a:chExt cx="2377440" cy="596722"/>
            </a:xfrm>
          </p:grpSpPr>
          <p:sp>
            <p:nvSpPr>
              <p:cNvPr name="Freeform 36" id="36" descr="A blue and black logo  AI-generated content may be incorrect."/>
              <p:cNvSpPr/>
              <p:nvPr/>
            </p:nvSpPr>
            <p:spPr>
              <a:xfrm flipH="false" flipV="false" rot="0">
                <a:off x="0" y="0"/>
                <a:ext cx="2377440" cy="596773"/>
              </a:xfrm>
              <a:custGeom>
                <a:avLst/>
                <a:gdLst/>
                <a:ahLst/>
                <a:cxnLst/>
                <a:rect r="r" b="b" t="t" l="l"/>
                <a:pathLst>
                  <a:path h="596773" w="2377440">
                    <a:moveTo>
                      <a:pt x="0" y="0"/>
                    </a:moveTo>
                    <a:lnTo>
                      <a:pt x="2377440" y="0"/>
                    </a:lnTo>
                    <a:lnTo>
                      <a:pt x="2377440" y="596773"/>
                    </a:lnTo>
                    <a:lnTo>
                      <a:pt x="0" y="596773"/>
                    </a:lnTo>
                    <a:lnTo>
                      <a:pt x="0" y="0"/>
                    </a:lnTo>
                    <a:close/>
                  </a:path>
                </a:pathLst>
              </a:custGeom>
              <a:blipFill>
                <a:blip r:embed="rId28"/>
                <a:stretch>
                  <a:fillRect l="0" t="0" r="0" b="8"/>
                </a:stretch>
              </a:blipFill>
            </p:spPr>
          </p:sp>
        </p:grpSp>
        <p:grpSp>
          <p:nvGrpSpPr>
            <p:cNvPr name="Group 37" id="37"/>
            <p:cNvGrpSpPr/>
            <p:nvPr/>
          </p:nvGrpSpPr>
          <p:grpSpPr>
            <a:xfrm rot="0">
              <a:off x="6769837" y="328511"/>
              <a:ext cx="2120379" cy="689648"/>
              <a:chOff x="0" y="0"/>
              <a:chExt cx="2120379" cy="689648"/>
            </a:xfrm>
          </p:grpSpPr>
          <p:sp>
            <p:nvSpPr>
              <p:cNvPr name="Freeform 38" id="38" descr="A close up of a logo  AI-generated content may be incorrect."/>
              <p:cNvSpPr/>
              <p:nvPr/>
            </p:nvSpPr>
            <p:spPr>
              <a:xfrm flipH="false" flipV="false" rot="0">
                <a:off x="0" y="0"/>
                <a:ext cx="2120392" cy="689610"/>
              </a:xfrm>
              <a:custGeom>
                <a:avLst/>
                <a:gdLst/>
                <a:ahLst/>
                <a:cxnLst/>
                <a:rect r="r" b="b" t="t" l="l"/>
                <a:pathLst>
                  <a:path h="689610" w="2120392">
                    <a:moveTo>
                      <a:pt x="0" y="0"/>
                    </a:moveTo>
                    <a:lnTo>
                      <a:pt x="2120392" y="0"/>
                    </a:lnTo>
                    <a:lnTo>
                      <a:pt x="2120392" y="689610"/>
                    </a:lnTo>
                    <a:lnTo>
                      <a:pt x="0" y="689610"/>
                    </a:lnTo>
                    <a:lnTo>
                      <a:pt x="0" y="0"/>
                    </a:lnTo>
                    <a:close/>
                  </a:path>
                </a:pathLst>
              </a:custGeom>
              <a:blipFill>
                <a:blip r:embed="rId29"/>
                <a:stretch>
                  <a:fillRect l="0" t="0" r="0" b="-5"/>
                </a:stretch>
              </a:blipFill>
            </p:spPr>
          </p:sp>
        </p:grpSp>
      </p:grpSp>
      <p:grpSp>
        <p:nvGrpSpPr>
          <p:cNvPr name="Group 39" id="39"/>
          <p:cNvGrpSpPr/>
          <p:nvPr/>
        </p:nvGrpSpPr>
        <p:grpSpPr>
          <a:xfrm rot="-3404040">
            <a:off x="11605651" y="4618825"/>
            <a:ext cx="5669280" cy="219456"/>
            <a:chOff x="0" y="0"/>
            <a:chExt cx="7559040" cy="292608"/>
          </a:xfrm>
        </p:grpSpPr>
        <p:sp>
          <p:nvSpPr>
            <p:cNvPr name="Freeform 40" id="40"/>
            <p:cNvSpPr/>
            <p:nvPr/>
          </p:nvSpPr>
          <p:spPr>
            <a:xfrm flipH="false" flipV="false" rot="0">
              <a:off x="0" y="0"/>
              <a:ext cx="7559040" cy="292608"/>
            </a:xfrm>
            <a:custGeom>
              <a:avLst/>
              <a:gdLst/>
              <a:ahLst/>
              <a:cxnLst/>
              <a:rect r="r" b="b" t="t" l="l"/>
              <a:pathLst>
                <a:path h="292608" w="7559040">
                  <a:moveTo>
                    <a:pt x="0" y="0"/>
                  </a:moveTo>
                  <a:lnTo>
                    <a:pt x="7559040" y="0"/>
                  </a:lnTo>
                  <a:lnTo>
                    <a:pt x="7559040" y="292608"/>
                  </a:lnTo>
                  <a:lnTo>
                    <a:pt x="0" y="292608"/>
                  </a:lnTo>
                  <a:close/>
                </a:path>
              </a:pathLst>
            </a:custGeom>
            <a:solidFill>
              <a:srgbClr val="4FC3F7"/>
            </a:solidFill>
          </p:spPr>
        </p:sp>
      </p:grpSp>
      <p:grpSp>
        <p:nvGrpSpPr>
          <p:cNvPr name="Group 41" id="41"/>
          <p:cNvGrpSpPr/>
          <p:nvPr/>
        </p:nvGrpSpPr>
        <p:grpSpPr>
          <a:xfrm rot="-3404040">
            <a:off x="12292727" y="4827413"/>
            <a:ext cx="4937760" cy="219456"/>
            <a:chOff x="0" y="0"/>
            <a:chExt cx="6583680" cy="292608"/>
          </a:xfrm>
        </p:grpSpPr>
        <p:sp>
          <p:nvSpPr>
            <p:cNvPr name="Freeform 42" id="42"/>
            <p:cNvSpPr/>
            <p:nvPr/>
          </p:nvSpPr>
          <p:spPr>
            <a:xfrm flipH="false" flipV="false" rot="0">
              <a:off x="0" y="0"/>
              <a:ext cx="6583680" cy="292608"/>
            </a:xfrm>
            <a:custGeom>
              <a:avLst/>
              <a:gdLst/>
              <a:ahLst/>
              <a:cxnLst/>
              <a:rect r="r" b="b" t="t" l="l"/>
              <a:pathLst>
                <a:path h="292608" w="6583680">
                  <a:moveTo>
                    <a:pt x="0" y="0"/>
                  </a:moveTo>
                  <a:lnTo>
                    <a:pt x="6583680" y="0"/>
                  </a:lnTo>
                  <a:lnTo>
                    <a:pt x="6583680" y="292608"/>
                  </a:lnTo>
                  <a:lnTo>
                    <a:pt x="0" y="292608"/>
                  </a:lnTo>
                  <a:close/>
                </a:path>
              </a:pathLst>
            </a:custGeom>
            <a:solidFill>
              <a:srgbClr val="4FC3F7"/>
            </a:solidFill>
          </p:spPr>
        </p:sp>
      </p:grpSp>
      <p:grpSp>
        <p:nvGrpSpPr>
          <p:cNvPr name="Group 43" id="43"/>
          <p:cNvGrpSpPr/>
          <p:nvPr/>
        </p:nvGrpSpPr>
        <p:grpSpPr>
          <a:xfrm rot="-3404040">
            <a:off x="12964249" y="5057356"/>
            <a:ext cx="4206240" cy="219456"/>
            <a:chOff x="0" y="0"/>
            <a:chExt cx="5608320" cy="292608"/>
          </a:xfrm>
        </p:grpSpPr>
        <p:sp>
          <p:nvSpPr>
            <p:cNvPr name="Freeform 44" id="44"/>
            <p:cNvSpPr/>
            <p:nvPr/>
          </p:nvSpPr>
          <p:spPr>
            <a:xfrm flipH="false" flipV="false" rot="0">
              <a:off x="0" y="0"/>
              <a:ext cx="5608320" cy="292608"/>
            </a:xfrm>
            <a:custGeom>
              <a:avLst/>
              <a:gdLst/>
              <a:ahLst/>
              <a:cxnLst/>
              <a:rect r="r" b="b" t="t" l="l"/>
              <a:pathLst>
                <a:path h="292608" w="5608320">
                  <a:moveTo>
                    <a:pt x="0" y="0"/>
                  </a:moveTo>
                  <a:lnTo>
                    <a:pt x="5608320" y="0"/>
                  </a:lnTo>
                  <a:lnTo>
                    <a:pt x="5608320" y="292608"/>
                  </a:lnTo>
                  <a:lnTo>
                    <a:pt x="0" y="292608"/>
                  </a:lnTo>
                  <a:close/>
                </a:path>
              </a:pathLst>
            </a:custGeom>
            <a:solidFill>
              <a:srgbClr val="4FC3F7"/>
            </a:solidFill>
          </p:spPr>
        </p:sp>
      </p:grpSp>
      <p:grpSp>
        <p:nvGrpSpPr>
          <p:cNvPr name="Group 45" id="45"/>
          <p:cNvGrpSpPr/>
          <p:nvPr/>
        </p:nvGrpSpPr>
        <p:grpSpPr>
          <a:xfrm rot="-3404040">
            <a:off x="13471427" y="5294443"/>
            <a:ext cx="3744097" cy="232534"/>
            <a:chOff x="0" y="0"/>
            <a:chExt cx="4992129" cy="310045"/>
          </a:xfrm>
        </p:grpSpPr>
        <p:sp>
          <p:nvSpPr>
            <p:cNvPr name="Freeform 46" id="46"/>
            <p:cNvSpPr/>
            <p:nvPr/>
          </p:nvSpPr>
          <p:spPr>
            <a:xfrm flipH="false" flipV="false" rot="0">
              <a:off x="0" y="0"/>
              <a:ext cx="4992116" cy="310007"/>
            </a:xfrm>
            <a:custGeom>
              <a:avLst/>
              <a:gdLst/>
              <a:ahLst/>
              <a:cxnLst/>
              <a:rect r="r" b="b" t="t" l="l"/>
              <a:pathLst>
                <a:path h="310007" w="4992116">
                  <a:moveTo>
                    <a:pt x="0" y="0"/>
                  </a:moveTo>
                  <a:lnTo>
                    <a:pt x="4992116" y="0"/>
                  </a:lnTo>
                  <a:lnTo>
                    <a:pt x="4992116" y="310007"/>
                  </a:lnTo>
                  <a:lnTo>
                    <a:pt x="0" y="310007"/>
                  </a:lnTo>
                  <a:close/>
                </a:path>
              </a:pathLst>
            </a:custGeom>
            <a:solidFill>
              <a:srgbClr val="4FC3F7"/>
            </a:solidFill>
          </p:spPr>
        </p:sp>
      </p:grpSp>
      <p:grpSp>
        <p:nvGrpSpPr>
          <p:cNvPr name="Group 47" id="47"/>
          <p:cNvGrpSpPr/>
          <p:nvPr/>
        </p:nvGrpSpPr>
        <p:grpSpPr>
          <a:xfrm rot="0">
            <a:off x="347510" y="2093119"/>
            <a:ext cx="7708506" cy="3699062"/>
            <a:chOff x="0" y="0"/>
            <a:chExt cx="10278008" cy="4932083"/>
          </a:xfrm>
        </p:grpSpPr>
        <p:sp>
          <p:nvSpPr>
            <p:cNvPr name="Freeform 48" id="48"/>
            <p:cNvSpPr/>
            <p:nvPr/>
          </p:nvSpPr>
          <p:spPr>
            <a:xfrm flipH="false" flipV="false" rot="0">
              <a:off x="0" y="0"/>
              <a:ext cx="10277983" cy="4932045"/>
            </a:xfrm>
            <a:custGeom>
              <a:avLst/>
              <a:gdLst/>
              <a:ahLst/>
              <a:cxnLst/>
              <a:rect r="r" b="b" t="t" l="l"/>
              <a:pathLst>
                <a:path h="4932045" w="10277983">
                  <a:moveTo>
                    <a:pt x="0" y="0"/>
                  </a:moveTo>
                  <a:lnTo>
                    <a:pt x="10277983" y="0"/>
                  </a:lnTo>
                  <a:lnTo>
                    <a:pt x="10277983" y="4932045"/>
                  </a:lnTo>
                  <a:lnTo>
                    <a:pt x="0" y="4932045"/>
                  </a:lnTo>
                  <a:lnTo>
                    <a:pt x="0" y="0"/>
                  </a:lnTo>
                  <a:close/>
                </a:path>
              </a:pathLst>
            </a:custGeom>
            <a:blipFill>
              <a:blip r:embed="rId30"/>
              <a:stretch>
                <a:fillRect l="0" t="0" r="0" b="-24579"/>
              </a:stretch>
            </a:blipFill>
          </p:spPr>
        </p:sp>
      </p:grpSp>
      <p:sp>
        <p:nvSpPr>
          <p:cNvPr name="TextBox 49" id="49"/>
          <p:cNvSpPr txBox="true"/>
          <p:nvPr/>
        </p:nvSpPr>
        <p:spPr>
          <a:xfrm rot="0">
            <a:off x="228362" y="6942220"/>
            <a:ext cx="10711444" cy="1114425"/>
          </a:xfrm>
          <a:prstGeom prst="rect">
            <a:avLst/>
          </a:prstGeom>
        </p:spPr>
        <p:txBody>
          <a:bodyPr anchor="t" rtlCol="false" tIns="0" lIns="0" bIns="0" rIns="0">
            <a:spAutoFit/>
          </a:bodyPr>
          <a:lstStyle/>
          <a:p>
            <a:pPr algn="ctr">
              <a:lnSpc>
                <a:spcPts val="4320"/>
              </a:lnSpc>
            </a:pPr>
            <a:r>
              <a:rPr lang="en-US" sz="3600" b="true">
                <a:solidFill>
                  <a:srgbClr val="1B3A8A"/>
                </a:solidFill>
                <a:latin typeface="Arial Bold"/>
                <a:ea typeface="Arial Bold"/>
                <a:cs typeface="Arial Bold"/>
                <a:sym typeface="Arial Bold"/>
              </a:rPr>
              <a:t>Smokey.io - Marketing Careers Chatbot in Copilot studio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260699" y="1220438"/>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Outline</a:t>
              </a:r>
            </a:p>
          </p:txBody>
        </p:sp>
      </p:grpSp>
      <p:sp>
        <p:nvSpPr>
          <p:cNvPr name="TextBox 9" id="9"/>
          <p:cNvSpPr txBox="true"/>
          <p:nvPr/>
        </p:nvSpPr>
        <p:spPr>
          <a:xfrm rot="0">
            <a:off x="341919" y="2197398"/>
            <a:ext cx="8710641" cy="5971022"/>
          </a:xfrm>
          <a:prstGeom prst="rect">
            <a:avLst/>
          </a:prstGeom>
        </p:spPr>
        <p:txBody>
          <a:bodyPr anchor="t" rtlCol="false" tIns="0" lIns="0" bIns="0" rIns="0">
            <a:spAutoFit/>
          </a:bodyPr>
          <a:lstStyle/>
          <a:p>
            <a:pPr algn="l" marL="868680" indent="-434340" lvl="1">
              <a:lnSpc>
                <a:spcPts val="4320"/>
              </a:lnSpc>
              <a:buFont typeface="Arial"/>
              <a:buChar char="•"/>
            </a:pPr>
            <a:r>
              <a:rPr lang="en-US" sz="3600">
                <a:solidFill>
                  <a:srgbClr val="000000"/>
                </a:solidFill>
                <a:latin typeface="Lato"/>
                <a:ea typeface="Lato"/>
                <a:cs typeface="Lato"/>
                <a:sym typeface="Lato"/>
              </a:rPr>
              <a:t>Abstract of the Project</a:t>
            </a:r>
          </a:p>
          <a:p>
            <a:pPr algn="l" marL="868680" indent="-434340" lvl="1">
              <a:lnSpc>
                <a:spcPts val="4320"/>
              </a:lnSpc>
              <a:buFont typeface="Arial"/>
              <a:buChar char="•"/>
            </a:pPr>
            <a:r>
              <a:rPr lang="en-US" sz="3600">
                <a:solidFill>
                  <a:srgbClr val="000000"/>
                </a:solidFill>
                <a:latin typeface="Lato"/>
                <a:ea typeface="Lato"/>
                <a:cs typeface="Lato"/>
                <a:sym typeface="Lato"/>
              </a:rPr>
              <a:t>Problem Statement</a:t>
            </a:r>
          </a:p>
          <a:p>
            <a:pPr algn="l" marL="868680" indent="-434340" lvl="1">
              <a:lnSpc>
                <a:spcPts val="4320"/>
              </a:lnSpc>
              <a:buFont typeface="Arial"/>
              <a:buChar char="•"/>
            </a:pPr>
            <a:r>
              <a:rPr lang="en-US" sz="3600">
                <a:solidFill>
                  <a:srgbClr val="000000"/>
                </a:solidFill>
                <a:latin typeface="Lato"/>
                <a:ea typeface="Lato"/>
                <a:cs typeface="Lato"/>
                <a:sym typeface="Lato"/>
              </a:rPr>
              <a:t>Proposed Solution</a:t>
            </a:r>
          </a:p>
          <a:p>
            <a:pPr algn="l" marL="868680" indent="-434340" lvl="1">
              <a:lnSpc>
                <a:spcPts val="4320"/>
              </a:lnSpc>
              <a:buFont typeface="Arial"/>
              <a:buChar char="•"/>
            </a:pPr>
            <a:r>
              <a:rPr lang="en-US" sz="3600">
                <a:solidFill>
                  <a:srgbClr val="000000"/>
                </a:solidFill>
                <a:latin typeface="Lato"/>
                <a:ea typeface="Lato"/>
                <a:cs typeface="Lato"/>
                <a:sym typeface="Lato"/>
              </a:rPr>
              <a:t>System Architecture</a:t>
            </a:r>
          </a:p>
          <a:p>
            <a:pPr algn="l" marL="868680" indent="-434340" lvl="1">
              <a:lnSpc>
                <a:spcPts val="4320"/>
              </a:lnSpc>
              <a:buFont typeface="Arial"/>
              <a:buChar char="•"/>
            </a:pPr>
            <a:r>
              <a:rPr lang="en-US" sz="3600">
                <a:solidFill>
                  <a:srgbClr val="000000"/>
                </a:solidFill>
                <a:latin typeface="Lato"/>
                <a:ea typeface="Lato"/>
                <a:cs typeface="Lato"/>
                <a:sym typeface="Lato"/>
              </a:rPr>
              <a:t>Live Demo of the Project</a:t>
            </a:r>
          </a:p>
          <a:p>
            <a:pPr algn="l" marL="868680" indent="-434340" lvl="1">
              <a:lnSpc>
                <a:spcPts val="4320"/>
              </a:lnSpc>
              <a:buFont typeface="Arial"/>
              <a:buChar char="•"/>
            </a:pPr>
            <a:r>
              <a:rPr lang="en-US" sz="3600">
                <a:solidFill>
                  <a:srgbClr val="000000"/>
                </a:solidFill>
                <a:latin typeface="Lato"/>
                <a:ea typeface="Lato"/>
                <a:cs typeface="Lato"/>
                <a:sym typeface="Lato"/>
              </a:rPr>
              <a:t>Embedded Video of Project</a:t>
            </a:r>
          </a:p>
          <a:p>
            <a:pPr algn="l" marL="868680" indent="-434340" lvl="1">
              <a:lnSpc>
                <a:spcPts val="4320"/>
              </a:lnSpc>
              <a:buFont typeface="Arial"/>
              <a:buChar char="•"/>
            </a:pPr>
            <a:r>
              <a:rPr lang="en-US" sz="3600">
                <a:solidFill>
                  <a:srgbClr val="000000"/>
                </a:solidFill>
                <a:latin typeface="Lato"/>
                <a:ea typeface="Lato"/>
                <a:cs typeface="Lato"/>
                <a:sym typeface="Lato"/>
              </a:rPr>
              <a:t>Conclusion</a:t>
            </a:r>
          </a:p>
          <a:p>
            <a:pPr algn="l" marL="868680" indent="-434340" lvl="1">
              <a:lnSpc>
                <a:spcPts val="4320"/>
              </a:lnSpc>
              <a:buFont typeface="Arial"/>
              <a:buChar char="•"/>
            </a:pPr>
            <a:r>
              <a:rPr lang="en-US" sz="3600">
                <a:solidFill>
                  <a:srgbClr val="000000"/>
                </a:solidFill>
                <a:latin typeface="Lato"/>
                <a:ea typeface="Lato"/>
                <a:cs typeface="Lato"/>
                <a:sym typeface="Lato"/>
              </a:rPr>
              <a:t>Future Scope</a:t>
            </a:r>
          </a:p>
        </p:txBody>
      </p:sp>
      <p:grpSp>
        <p:nvGrpSpPr>
          <p:cNvPr name="Group 10" id="10"/>
          <p:cNvGrpSpPr/>
          <p:nvPr/>
        </p:nvGrpSpPr>
        <p:grpSpPr>
          <a:xfrm rot="0">
            <a:off x="10757649" y="2068649"/>
            <a:ext cx="5737412" cy="6580099"/>
            <a:chOff x="0" y="0"/>
            <a:chExt cx="7649883" cy="8773465"/>
          </a:xfrm>
        </p:grpSpPr>
        <p:sp>
          <p:nvSpPr>
            <p:cNvPr name="Freeform 11" id="11" descr="A screen shot of a computer  AI-generated content may be incorrect."/>
            <p:cNvSpPr/>
            <p:nvPr/>
          </p:nvSpPr>
          <p:spPr>
            <a:xfrm flipH="false" flipV="false" rot="0">
              <a:off x="0" y="0"/>
              <a:ext cx="7649845" cy="8773414"/>
            </a:xfrm>
            <a:custGeom>
              <a:avLst/>
              <a:gdLst/>
              <a:ahLst/>
              <a:cxnLst/>
              <a:rect r="r" b="b" t="t" l="l"/>
              <a:pathLst>
                <a:path h="8773414" w="7649845">
                  <a:moveTo>
                    <a:pt x="0" y="0"/>
                  </a:moveTo>
                  <a:lnTo>
                    <a:pt x="7649845" y="0"/>
                  </a:lnTo>
                  <a:lnTo>
                    <a:pt x="7649845" y="8773414"/>
                  </a:lnTo>
                  <a:lnTo>
                    <a:pt x="0" y="8773414"/>
                  </a:lnTo>
                  <a:lnTo>
                    <a:pt x="0" y="0"/>
                  </a:lnTo>
                  <a:close/>
                </a:path>
              </a:pathLst>
            </a:custGeom>
            <a:blipFill>
              <a:blip r:embed="rId9"/>
              <a:stretch>
                <a:fillRect l="-45272" t="-11443" r="-34025" b="-44892"/>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280159" y="1215038"/>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Abstract</a:t>
              </a:r>
            </a:p>
          </p:txBody>
        </p:sp>
      </p:grpSp>
      <p:sp>
        <p:nvSpPr>
          <p:cNvPr name="Freeform 9" id="9"/>
          <p:cNvSpPr/>
          <p:nvPr/>
        </p:nvSpPr>
        <p:spPr>
          <a:xfrm flipH="false" flipV="false" rot="0">
            <a:off x="10589247" y="1653950"/>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9"/>
            <a:stretch>
              <a:fillRect l="0" t="0" r="0" b="0"/>
            </a:stretch>
          </a:blipFill>
        </p:spPr>
      </p:sp>
      <p:sp>
        <p:nvSpPr>
          <p:cNvPr name="TextBox 10" id="10"/>
          <p:cNvSpPr txBox="true"/>
          <p:nvPr/>
        </p:nvSpPr>
        <p:spPr>
          <a:xfrm rot="0">
            <a:off x="341919" y="2201799"/>
            <a:ext cx="9821809" cy="6524625"/>
          </a:xfrm>
          <a:prstGeom prst="rect">
            <a:avLst/>
          </a:prstGeom>
        </p:spPr>
        <p:txBody>
          <a:bodyPr anchor="t" rtlCol="false" tIns="0" lIns="0" bIns="0" rIns="0">
            <a:spAutoFit/>
          </a:bodyPr>
          <a:lstStyle/>
          <a:p>
            <a:pPr algn="l" marL="777240" indent="-388620" lvl="1">
              <a:lnSpc>
                <a:spcPts val="4320"/>
              </a:lnSpc>
              <a:buFont typeface="Arial"/>
              <a:buChar char="•"/>
            </a:pPr>
            <a:r>
              <a:rPr lang="en-US" sz="3600">
                <a:solidFill>
                  <a:srgbClr val="000000"/>
                </a:solidFill>
                <a:latin typeface="Lato"/>
                <a:ea typeface="Lato"/>
                <a:cs typeface="Lato"/>
                <a:sym typeface="Lato"/>
              </a:rPr>
              <a:t>Smokey.io is a Career Helper chatbot primarily designed to aid marketing aspirants of different domains in refining their resumes and getting guidance on building projects for their portfolios. </a:t>
            </a:r>
          </a:p>
          <a:p>
            <a:pPr algn="l" marL="777240" indent="-388620" lvl="1">
              <a:lnSpc>
                <a:spcPts val="4320"/>
              </a:lnSpc>
              <a:buFont typeface="Arial"/>
              <a:buChar char="•"/>
            </a:pPr>
            <a:r>
              <a:rPr lang="en-US" sz="3600">
                <a:solidFill>
                  <a:srgbClr val="000000"/>
                </a:solidFill>
                <a:latin typeface="Lato"/>
                <a:ea typeface="Lato"/>
                <a:cs typeface="Lato"/>
                <a:sym typeface="Lato"/>
              </a:rPr>
              <a:t>This chatbot is a basic prototype made using CoPilot studio, using prompt assistance from Gemini AI. </a:t>
            </a:r>
          </a:p>
          <a:p>
            <a:pPr algn="l" marL="777240" indent="-388620" lvl="1">
              <a:lnSpc>
                <a:spcPts val="4320"/>
              </a:lnSpc>
              <a:buFont typeface="Arial"/>
              <a:buChar char="•"/>
            </a:pPr>
            <a:r>
              <a:rPr lang="en-US" sz="3600">
                <a:solidFill>
                  <a:srgbClr val="000000"/>
                </a:solidFill>
                <a:latin typeface="Lato"/>
                <a:ea typeface="Lato"/>
                <a:cs typeface="Lato"/>
                <a:sym typeface="Lato"/>
              </a:rPr>
              <a:t>The expected outcomes are to give users clarity on their career path within marketing Summarize the expected outcomes briefly.</a:t>
            </a:r>
          </a:p>
          <a:p>
            <a:pPr algn="l">
              <a:lnSpc>
                <a:spcPts val="432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10400433" y="2211324"/>
            <a:ext cx="6858867" cy="6858867"/>
            <a:chOff x="0" y="0"/>
            <a:chExt cx="10525976" cy="10525976"/>
          </a:xfrm>
        </p:grpSpPr>
        <p:sp>
          <p:nvSpPr>
            <p:cNvPr name="Freeform 7" id="7"/>
            <p:cNvSpPr/>
            <p:nvPr/>
          </p:nvSpPr>
          <p:spPr>
            <a:xfrm flipH="false" flipV="false" rot="0">
              <a:off x="0" y="0"/>
              <a:ext cx="10526014" cy="10526014"/>
            </a:xfrm>
            <a:custGeom>
              <a:avLst/>
              <a:gdLst/>
              <a:ahLst/>
              <a:cxnLst/>
              <a:rect r="r" b="b" t="t" l="l"/>
              <a:pathLst>
                <a:path h="10526014" w="10526014">
                  <a:moveTo>
                    <a:pt x="0" y="0"/>
                  </a:moveTo>
                  <a:lnTo>
                    <a:pt x="10526014" y="0"/>
                  </a:lnTo>
                  <a:lnTo>
                    <a:pt x="10526014" y="10526014"/>
                  </a:lnTo>
                  <a:lnTo>
                    <a:pt x="0" y="10526014"/>
                  </a:lnTo>
                  <a:lnTo>
                    <a:pt x="0" y="0"/>
                  </a:lnTo>
                  <a:close/>
                </a:path>
              </a:pathLst>
            </a:custGeom>
            <a:blipFill>
              <a:blip r:embed="rId8"/>
              <a:stretch>
                <a:fillRect l="-24931" t="0" r="-24931" b="0"/>
              </a:stretch>
            </a:blipFill>
          </p:spPr>
        </p:sp>
      </p:grpSp>
      <p:grpSp>
        <p:nvGrpSpPr>
          <p:cNvPr name="Group 8" id="8"/>
          <p:cNvGrpSpPr/>
          <p:nvPr/>
        </p:nvGrpSpPr>
        <p:grpSpPr>
          <a:xfrm rot="0">
            <a:off x="241249" y="1222572"/>
            <a:ext cx="16459200" cy="877824"/>
            <a:chOff x="0" y="0"/>
            <a:chExt cx="21945600" cy="1170432"/>
          </a:xfrm>
        </p:grpSpPr>
        <p:sp>
          <p:nvSpPr>
            <p:cNvPr name="Freeform 9" id="9"/>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9">
                <a:alphaModFix amt="0"/>
              </a:blip>
              <a:stretch>
                <a:fillRect l="0" t="-315344" r="0" b="-315344"/>
              </a:stretch>
            </a:blipFill>
          </p:spPr>
        </p:sp>
        <p:sp>
          <p:nvSpPr>
            <p:cNvPr name="TextBox 10" id="10"/>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Problem Statement</a:t>
              </a:r>
            </a:p>
          </p:txBody>
        </p:sp>
      </p:grpSp>
      <p:sp>
        <p:nvSpPr>
          <p:cNvPr name="TextBox 11" id="11"/>
          <p:cNvSpPr txBox="true"/>
          <p:nvPr/>
        </p:nvSpPr>
        <p:spPr>
          <a:xfrm rot="0">
            <a:off x="341919" y="2201799"/>
            <a:ext cx="9725875" cy="8696325"/>
          </a:xfrm>
          <a:prstGeom prst="rect">
            <a:avLst/>
          </a:prstGeom>
        </p:spPr>
        <p:txBody>
          <a:bodyPr anchor="t" rtlCol="false" tIns="0" lIns="0" bIns="0" rIns="0">
            <a:spAutoFit/>
          </a:bodyPr>
          <a:lstStyle/>
          <a:p>
            <a:pPr algn="l" marL="777240" indent="-388620" lvl="1">
              <a:lnSpc>
                <a:spcPts val="4320"/>
              </a:lnSpc>
              <a:buFont typeface="Arial"/>
              <a:buChar char="•"/>
            </a:pPr>
            <a:r>
              <a:rPr lang="en-US" sz="3600">
                <a:solidFill>
                  <a:srgbClr val="000000"/>
                </a:solidFill>
                <a:latin typeface="Lato"/>
                <a:ea typeface="Lato"/>
                <a:cs typeface="Lato"/>
                <a:sym typeface="Lato"/>
              </a:rPr>
              <a:t>Young professionals are currently in a volatile era of hiring - caught between a lack of experience and a lack of clarity of the vastness of the marketing field. </a:t>
            </a:r>
          </a:p>
          <a:p>
            <a:pPr algn="l" marL="777240" indent="-388620" lvl="1">
              <a:lnSpc>
                <a:spcPts val="4320"/>
              </a:lnSpc>
              <a:buFont typeface="Arial"/>
              <a:buChar char="•"/>
            </a:pPr>
            <a:r>
              <a:rPr lang="en-US" sz="3600">
                <a:solidFill>
                  <a:srgbClr val="000000"/>
                </a:solidFill>
                <a:latin typeface="Lato"/>
                <a:ea typeface="Lato"/>
                <a:cs typeface="Lato"/>
                <a:sym typeface="Lato"/>
              </a:rPr>
              <a:t>They may suffer from a dearth of clarity and skill matching, and thus may be limited to on-the-surface roles of social media and content creation without any in-depth insights, which may hamper their career mobility. </a:t>
            </a:r>
          </a:p>
          <a:p>
            <a:pPr algn="l" marL="777240" indent="-388620" lvl="1">
              <a:lnSpc>
                <a:spcPts val="4320"/>
              </a:lnSpc>
              <a:buFont typeface="Arial"/>
              <a:buChar char="•"/>
            </a:pPr>
            <a:r>
              <a:rPr lang="en-US" sz="3600">
                <a:solidFill>
                  <a:srgbClr val="000000"/>
                </a:solidFill>
                <a:latin typeface="Lato"/>
                <a:ea typeface="Lato"/>
                <a:cs typeface="Lato"/>
                <a:sym typeface="Lato"/>
              </a:rPr>
              <a:t>This is an important distinction at a time AI filters out the cream from the crop, placing more emphasis on soft skills and agency rather than a degree. </a:t>
            </a:r>
          </a:p>
          <a:p>
            <a:pPr algn="l">
              <a:lnSpc>
                <a:spcPts val="4320"/>
              </a:lnSpc>
            </a:pPr>
          </a:p>
          <a:p>
            <a:pPr algn="l">
              <a:lnSpc>
                <a:spcPts val="43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250974" y="1233859"/>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Proposed Solution</a:t>
              </a:r>
            </a:p>
          </p:txBody>
        </p:sp>
      </p:grpSp>
      <p:sp>
        <p:nvSpPr>
          <p:cNvPr name="Freeform 9" id="9"/>
          <p:cNvSpPr/>
          <p:nvPr/>
        </p:nvSpPr>
        <p:spPr>
          <a:xfrm flipH="false" flipV="false" rot="0">
            <a:off x="11093150" y="2202966"/>
            <a:ext cx="5881068" cy="5881068"/>
          </a:xfrm>
          <a:custGeom>
            <a:avLst/>
            <a:gdLst/>
            <a:ahLst/>
            <a:cxnLst/>
            <a:rect r="r" b="b" t="t" l="l"/>
            <a:pathLst>
              <a:path h="5881068" w="5881068">
                <a:moveTo>
                  <a:pt x="0" y="0"/>
                </a:moveTo>
                <a:lnTo>
                  <a:pt x="5881068" y="0"/>
                </a:lnTo>
                <a:lnTo>
                  <a:pt x="5881068" y="5881068"/>
                </a:lnTo>
                <a:lnTo>
                  <a:pt x="0" y="58810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342414" y="2128218"/>
            <a:ext cx="9388126" cy="8153400"/>
          </a:xfrm>
          <a:prstGeom prst="rect">
            <a:avLst/>
          </a:prstGeom>
        </p:spPr>
        <p:txBody>
          <a:bodyPr anchor="t" rtlCol="false" tIns="0" lIns="0" bIns="0" rIns="0">
            <a:spAutoFit/>
          </a:bodyPr>
          <a:lstStyle/>
          <a:p>
            <a:pPr algn="l">
              <a:lnSpc>
                <a:spcPts val="4320"/>
              </a:lnSpc>
            </a:pPr>
          </a:p>
          <a:p>
            <a:pPr algn="l">
              <a:lnSpc>
                <a:spcPts val="4320"/>
              </a:lnSpc>
            </a:pPr>
            <a:r>
              <a:rPr lang="en-US" sz="3600">
                <a:solidFill>
                  <a:srgbClr val="1A1A2E"/>
                </a:solidFill>
                <a:latin typeface="Lato"/>
                <a:ea typeface="Lato"/>
                <a:cs typeface="Lato"/>
                <a:sym typeface="Lato"/>
              </a:rPr>
              <a:t>Smokey addresses the core problem of every young marketing professional by offering clarity through a one-stop chatbot assistant that offers freshers with timely, relevant advice on which marketing career path can be pursued, along with actionable insights on specific skills and projects they can target.</a:t>
            </a:r>
          </a:p>
          <a:p>
            <a:pPr algn="l">
              <a:lnSpc>
                <a:spcPts val="4320"/>
              </a:lnSpc>
            </a:pPr>
            <a:r>
              <a:rPr lang="en-US" sz="3600">
                <a:solidFill>
                  <a:srgbClr val="1A1A2E"/>
                </a:solidFill>
                <a:latin typeface="Lato"/>
                <a:ea typeface="Lato"/>
                <a:cs typeface="Lato"/>
                <a:sym typeface="Lato"/>
              </a:rPr>
              <a:t>  </a:t>
            </a:r>
          </a:p>
          <a:p>
            <a:pPr algn="l">
              <a:lnSpc>
                <a:spcPts val="4320"/>
              </a:lnSpc>
            </a:pPr>
            <a:r>
              <a:rPr lang="en-US" sz="3600">
                <a:solidFill>
                  <a:srgbClr val="1A1A2E"/>
                </a:solidFill>
                <a:latin typeface="Lato"/>
                <a:ea typeface="Lato"/>
                <a:cs typeface="Lato"/>
                <a:sym typeface="Lato"/>
              </a:rPr>
              <a:t>Note:  Smokey is currently a simple prompt-based chatbot built on a single dataset, absent of any APIs or web scraping.</a:t>
            </a:r>
          </a:p>
          <a:p>
            <a:pPr algn="l">
              <a:lnSpc>
                <a:spcPts val="4320"/>
              </a:lnSpc>
            </a:pPr>
            <a:r>
              <a:rPr lang="en-US" sz="3600">
                <a:solidFill>
                  <a:srgbClr val="1A1A2E"/>
                </a:solidFill>
                <a:latin typeface="Lato"/>
                <a:ea typeface="Lato"/>
                <a:cs typeface="Lato"/>
                <a:sym typeface="Lato"/>
              </a:rPr>
              <a:t> </a:t>
            </a:r>
          </a:p>
          <a:p>
            <a:pPr algn="l">
              <a:lnSpc>
                <a:spcPts val="4320"/>
              </a:lnSpc>
            </a:pPr>
            <a:r>
              <a:rPr lang="en-US" sz="3600">
                <a:solidFill>
                  <a:srgbClr val="1A1A2E"/>
                </a:solidFill>
                <a:latin typeface="Lato"/>
                <a:ea typeface="Lato"/>
                <a:cs typeface="Lato"/>
                <a:sym typeface="Lato"/>
              </a:rPr>
              <a:t>  </a:t>
            </a:r>
          </a:p>
          <a:p>
            <a:pPr algn="l">
              <a:lnSpc>
                <a:spcPts val="43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260699" y="1205836"/>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System Architecture</a:t>
              </a:r>
            </a:p>
          </p:txBody>
        </p:sp>
      </p:grpSp>
      <p:grpSp>
        <p:nvGrpSpPr>
          <p:cNvPr name="Group 9" id="9"/>
          <p:cNvGrpSpPr/>
          <p:nvPr/>
        </p:nvGrpSpPr>
        <p:grpSpPr>
          <a:xfrm rot="0">
            <a:off x="470821" y="2486396"/>
            <a:ext cx="8229600" cy="768096"/>
            <a:chOff x="0" y="0"/>
            <a:chExt cx="10972800" cy="1024128"/>
          </a:xfrm>
        </p:grpSpPr>
        <p:sp>
          <p:nvSpPr>
            <p:cNvPr name="Freeform 10" id="10"/>
            <p:cNvSpPr/>
            <p:nvPr/>
          </p:nvSpPr>
          <p:spPr>
            <a:xfrm flipH="false" flipV="false" rot="0">
              <a:off x="0" y="0"/>
              <a:ext cx="10972800" cy="1024128"/>
            </a:xfrm>
            <a:custGeom>
              <a:avLst/>
              <a:gdLst/>
              <a:ahLst/>
              <a:cxnLst/>
              <a:rect r="r" b="b" t="t" l="l"/>
              <a:pathLst>
                <a:path h="1024128" w="10972800">
                  <a:moveTo>
                    <a:pt x="0" y="0"/>
                  </a:moveTo>
                  <a:lnTo>
                    <a:pt x="10972800" y="0"/>
                  </a:lnTo>
                  <a:lnTo>
                    <a:pt x="10972800" y="1024128"/>
                  </a:lnTo>
                  <a:lnTo>
                    <a:pt x="0" y="1024128"/>
                  </a:lnTo>
                  <a:close/>
                </a:path>
              </a:pathLst>
            </a:custGeom>
            <a:solidFill>
              <a:srgbClr val="DAE3F3"/>
            </a:solidFill>
          </p:spPr>
        </p:sp>
      </p:grpSp>
      <p:grpSp>
        <p:nvGrpSpPr>
          <p:cNvPr name="Group 11" id="11"/>
          <p:cNvGrpSpPr/>
          <p:nvPr/>
        </p:nvGrpSpPr>
        <p:grpSpPr>
          <a:xfrm rot="0">
            <a:off x="8334661" y="2486396"/>
            <a:ext cx="640080" cy="768096"/>
            <a:chOff x="0" y="0"/>
            <a:chExt cx="853440" cy="1024128"/>
          </a:xfrm>
        </p:grpSpPr>
        <p:sp>
          <p:nvSpPr>
            <p:cNvPr name="Freeform 12" id="12"/>
            <p:cNvSpPr/>
            <p:nvPr/>
          </p:nvSpPr>
          <p:spPr>
            <a:xfrm flipH="false" flipV="false" rot="0">
              <a:off x="0" y="0"/>
              <a:ext cx="853440" cy="1024128"/>
            </a:xfrm>
            <a:custGeom>
              <a:avLst/>
              <a:gdLst/>
              <a:ahLst/>
              <a:cxnLst/>
              <a:rect r="r" b="b" t="t" l="l"/>
              <a:pathLst>
                <a:path h="1024128" w="853440">
                  <a:moveTo>
                    <a:pt x="0" y="0"/>
                  </a:moveTo>
                  <a:lnTo>
                    <a:pt x="853440" y="0"/>
                  </a:lnTo>
                  <a:lnTo>
                    <a:pt x="853440" y="1024128"/>
                  </a:lnTo>
                  <a:lnTo>
                    <a:pt x="0" y="1024128"/>
                  </a:lnTo>
                  <a:close/>
                </a:path>
              </a:pathLst>
            </a:custGeom>
            <a:solidFill>
              <a:srgbClr val="1B3A8A"/>
            </a:solidFill>
          </p:spPr>
        </p:sp>
      </p:grpSp>
      <p:grpSp>
        <p:nvGrpSpPr>
          <p:cNvPr name="Group 13" id="13"/>
          <p:cNvGrpSpPr/>
          <p:nvPr/>
        </p:nvGrpSpPr>
        <p:grpSpPr>
          <a:xfrm rot="0">
            <a:off x="653701" y="2559548"/>
            <a:ext cx="7680960" cy="621792"/>
            <a:chOff x="0" y="0"/>
            <a:chExt cx="10241280" cy="829056"/>
          </a:xfrm>
        </p:grpSpPr>
        <p:sp>
          <p:nvSpPr>
            <p:cNvPr name="Freeform 14" id="14"/>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8">
                <a:alphaModFix amt="0"/>
              </a:blip>
              <a:stretch>
                <a:fillRect l="0" t="-190697" r="0" b="-190697"/>
              </a:stretch>
            </a:blipFill>
          </p:spPr>
        </p:sp>
        <p:sp>
          <p:nvSpPr>
            <p:cNvPr name="TextBox 15" id="15"/>
            <p:cNvSpPr txBox="true"/>
            <p:nvPr/>
          </p:nvSpPr>
          <p:spPr>
            <a:xfrm>
              <a:off x="0" y="-9525"/>
              <a:ext cx="10241280" cy="838581"/>
            </a:xfrm>
            <a:prstGeom prst="rect">
              <a:avLst/>
            </a:prstGeom>
          </p:spPr>
          <p:txBody>
            <a:bodyPr anchor="ctr" rtlCol="false" tIns="0" lIns="0" bIns="0" rIns="0"/>
            <a:lstStyle/>
            <a:p>
              <a:pPr algn="l">
                <a:lnSpc>
                  <a:spcPts val="3840"/>
                </a:lnSpc>
              </a:pPr>
              <a:r>
                <a:rPr lang="en-US" sz="3200" b="true">
                  <a:solidFill>
                    <a:srgbClr val="000000"/>
                  </a:solidFill>
                  <a:latin typeface="Lato Bold"/>
                  <a:ea typeface="Lato Bold"/>
                  <a:cs typeface="Lato Bold"/>
                  <a:sym typeface="Lato Bold"/>
                </a:rPr>
                <a:t>Data Input / Source</a:t>
              </a:r>
            </a:p>
          </p:txBody>
        </p:sp>
      </p:grpSp>
      <p:sp>
        <p:nvSpPr>
          <p:cNvPr name="TextBox 16" id="16"/>
          <p:cNvSpPr txBox="true"/>
          <p:nvPr/>
        </p:nvSpPr>
        <p:spPr>
          <a:xfrm rot="0">
            <a:off x="745141" y="3436991"/>
            <a:ext cx="7863840" cy="1466850"/>
          </a:xfrm>
          <a:prstGeom prst="rect">
            <a:avLst/>
          </a:prstGeom>
        </p:spPr>
        <p:txBody>
          <a:bodyPr anchor="t" rtlCol="false" tIns="0" lIns="0" bIns="0" rIns="0">
            <a:spAutoFit/>
          </a:bodyPr>
          <a:lstStyle/>
          <a:p>
            <a:pPr algn="l">
              <a:lnSpc>
                <a:spcPts val="3840"/>
              </a:lnSpc>
            </a:pPr>
            <a:r>
              <a:rPr lang="en-US" sz="3200">
                <a:solidFill>
                  <a:srgbClr val="1A1A2E"/>
                </a:solidFill>
                <a:latin typeface="Lato"/>
                <a:ea typeface="Lato"/>
                <a:cs typeface="Lato"/>
                <a:sym typeface="Lato"/>
              </a:rPr>
              <a:t>Raw Kaggle dataset was AI-enriched to create marketing jobs dataset, resume dataset and projects dataset.</a:t>
            </a:r>
          </a:p>
        </p:txBody>
      </p:sp>
      <p:grpSp>
        <p:nvGrpSpPr>
          <p:cNvPr name="Group 17" id="17"/>
          <p:cNvGrpSpPr/>
          <p:nvPr/>
        </p:nvGrpSpPr>
        <p:grpSpPr>
          <a:xfrm rot="0">
            <a:off x="9340501" y="2486396"/>
            <a:ext cx="8229600" cy="768096"/>
            <a:chOff x="0" y="0"/>
            <a:chExt cx="10972800" cy="1024128"/>
          </a:xfrm>
        </p:grpSpPr>
        <p:sp>
          <p:nvSpPr>
            <p:cNvPr name="Freeform 18" id="18"/>
            <p:cNvSpPr/>
            <p:nvPr/>
          </p:nvSpPr>
          <p:spPr>
            <a:xfrm flipH="false" flipV="false" rot="0">
              <a:off x="0" y="0"/>
              <a:ext cx="10972800" cy="1024128"/>
            </a:xfrm>
            <a:custGeom>
              <a:avLst/>
              <a:gdLst/>
              <a:ahLst/>
              <a:cxnLst/>
              <a:rect r="r" b="b" t="t" l="l"/>
              <a:pathLst>
                <a:path h="1024128" w="10972800">
                  <a:moveTo>
                    <a:pt x="0" y="0"/>
                  </a:moveTo>
                  <a:lnTo>
                    <a:pt x="10972800" y="0"/>
                  </a:lnTo>
                  <a:lnTo>
                    <a:pt x="10972800" y="1024128"/>
                  </a:lnTo>
                  <a:lnTo>
                    <a:pt x="0" y="1024128"/>
                  </a:lnTo>
                  <a:close/>
                </a:path>
              </a:pathLst>
            </a:custGeom>
            <a:solidFill>
              <a:srgbClr val="DAE3F3"/>
            </a:solidFill>
          </p:spPr>
        </p:sp>
      </p:grpSp>
      <p:grpSp>
        <p:nvGrpSpPr>
          <p:cNvPr name="Group 19" id="19"/>
          <p:cNvGrpSpPr/>
          <p:nvPr/>
        </p:nvGrpSpPr>
        <p:grpSpPr>
          <a:xfrm rot="0">
            <a:off x="17204341" y="2486396"/>
            <a:ext cx="640080" cy="768096"/>
            <a:chOff x="0" y="0"/>
            <a:chExt cx="853440" cy="1024128"/>
          </a:xfrm>
        </p:grpSpPr>
        <p:sp>
          <p:nvSpPr>
            <p:cNvPr name="Freeform 20" id="20"/>
            <p:cNvSpPr/>
            <p:nvPr/>
          </p:nvSpPr>
          <p:spPr>
            <a:xfrm flipH="false" flipV="false" rot="0">
              <a:off x="0" y="0"/>
              <a:ext cx="853440" cy="1024128"/>
            </a:xfrm>
            <a:custGeom>
              <a:avLst/>
              <a:gdLst/>
              <a:ahLst/>
              <a:cxnLst/>
              <a:rect r="r" b="b" t="t" l="l"/>
              <a:pathLst>
                <a:path h="1024128" w="853440">
                  <a:moveTo>
                    <a:pt x="0" y="0"/>
                  </a:moveTo>
                  <a:lnTo>
                    <a:pt x="853440" y="0"/>
                  </a:lnTo>
                  <a:lnTo>
                    <a:pt x="853440" y="1024128"/>
                  </a:lnTo>
                  <a:lnTo>
                    <a:pt x="0" y="1024128"/>
                  </a:lnTo>
                  <a:close/>
                </a:path>
              </a:pathLst>
            </a:custGeom>
            <a:solidFill>
              <a:srgbClr val="1B3A8A"/>
            </a:solidFill>
          </p:spPr>
        </p:sp>
      </p:grpSp>
      <p:grpSp>
        <p:nvGrpSpPr>
          <p:cNvPr name="Group 21" id="21"/>
          <p:cNvGrpSpPr/>
          <p:nvPr/>
        </p:nvGrpSpPr>
        <p:grpSpPr>
          <a:xfrm rot="0">
            <a:off x="9523381" y="2559548"/>
            <a:ext cx="7680960" cy="621792"/>
            <a:chOff x="0" y="0"/>
            <a:chExt cx="10241280" cy="829056"/>
          </a:xfrm>
        </p:grpSpPr>
        <p:sp>
          <p:nvSpPr>
            <p:cNvPr name="Freeform 22" id="22"/>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8">
                <a:alphaModFix amt="0"/>
              </a:blip>
              <a:stretch>
                <a:fillRect l="0" t="-190697" r="0" b="-190697"/>
              </a:stretch>
            </a:blipFill>
          </p:spPr>
        </p:sp>
        <p:sp>
          <p:nvSpPr>
            <p:cNvPr name="TextBox 23" id="23"/>
            <p:cNvSpPr txBox="true"/>
            <p:nvPr/>
          </p:nvSpPr>
          <p:spPr>
            <a:xfrm>
              <a:off x="0" y="-9525"/>
              <a:ext cx="10241280" cy="838581"/>
            </a:xfrm>
            <a:prstGeom prst="rect">
              <a:avLst/>
            </a:prstGeom>
          </p:spPr>
          <p:txBody>
            <a:bodyPr anchor="ctr" rtlCol="false" tIns="0" lIns="0" bIns="0" rIns="0"/>
            <a:lstStyle/>
            <a:p>
              <a:pPr algn="l">
                <a:lnSpc>
                  <a:spcPts val="3840"/>
                </a:lnSpc>
              </a:pPr>
              <a:r>
                <a:rPr lang="en-US" sz="3200" b="true">
                  <a:solidFill>
                    <a:srgbClr val="000000"/>
                  </a:solidFill>
                  <a:latin typeface="Lato Bold"/>
                  <a:ea typeface="Lato Bold"/>
                  <a:cs typeface="Lato Bold"/>
                  <a:sym typeface="Lato Bold"/>
                </a:rPr>
                <a:t>Processing / Analysis</a:t>
              </a:r>
            </a:p>
          </p:txBody>
        </p:sp>
      </p:grpSp>
      <p:sp>
        <p:nvSpPr>
          <p:cNvPr name="TextBox 24" id="24"/>
          <p:cNvSpPr txBox="true"/>
          <p:nvPr/>
        </p:nvSpPr>
        <p:spPr>
          <a:xfrm rot="0">
            <a:off x="9614821" y="3436991"/>
            <a:ext cx="7863840" cy="1952625"/>
          </a:xfrm>
          <a:prstGeom prst="rect">
            <a:avLst/>
          </a:prstGeom>
        </p:spPr>
        <p:txBody>
          <a:bodyPr anchor="t" rtlCol="false" tIns="0" lIns="0" bIns="0" rIns="0">
            <a:spAutoFit/>
          </a:bodyPr>
          <a:lstStyle/>
          <a:p>
            <a:pPr algn="l">
              <a:lnSpc>
                <a:spcPts val="3840"/>
              </a:lnSpc>
            </a:pPr>
            <a:r>
              <a:rPr lang="en-US" sz="3200">
                <a:solidFill>
                  <a:srgbClr val="1A1A2E"/>
                </a:solidFill>
                <a:latin typeface="Lato"/>
                <a:ea typeface="Lato"/>
                <a:cs typeface="Lato"/>
                <a:sym typeface="Lato"/>
              </a:rPr>
              <a:t>Data was cleaned to remove additional variables and insights such as project ideas,kpis, optimized resume bylines were added.</a:t>
            </a:r>
          </a:p>
        </p:txBody>
      </p:sp>
      <p:grpSp>
        <p:nvGrpSpPr>
          <p:cNvPr name="Group 25" id="25"/>
          <p:cNvGrpSpPr/>
          <p:nvPr/>
        </p:nvGrpSpPr>
        <p:grpSpPr>
          <a:xfrm rot="0">
            <a:off x="470821" y="5939714"/>
            <a:ext cx="8229600" cy="768096"/>
            <a:chOff x="0" y="0"/>
            <a:chExt cx="10972800" cy="1024128"/>
          </a:xfrm>
        </p:grpSpPr>
        <p:sp>
          <p:nvSpPr>
            <p:cNvPr name="Freeform 26" id="26"/>
            <p:cNvSpPr/>
            <p:nvPr/>
          </p:nvSpPr>
          <p:spPr>
            <a:xfrm flipH="false" flipV="false" rot="0">
              <a:off x="0" y="0"/>
              <a:ext cx="10972800" cy="1024128"/>
            </a:xfrm>
            <a:custGeom>
              <a:avLst/>
              <a:gdLst/>
              <a:ahLst/>
              <a:cxnLst/>
              <a:rect r="r" b="b" t="t" l="l"/>
              <a:pathLst>
                <a:path h="1024128" w="10972800">
                  <a:moveTo>
                    <a:pt x="0" y="0"/>
                  </a:moveTo>
                  <a:lnTo>
                    <a:pt x="10972800" y="0"/>
                  </a:lnTo>
                  <a:lnTo>
                    <a:pt x="10972800" y="1024128"/>
                  </a:lnTo>
                  <a:lnTo>
                    <a:pt x="0" y="1024128"/>
                  </a:lnTo>
                  <a:close/>
                </a:path>
              </a:pathLst>
            </a:custGeom>
            <a:solidFill>
              <a:srgbClr val="DAE3F3"/>
            </a:solidFill>
          </p:spPr>
        </p:sp>
      </p:grpSp>
      <p:grpSp>
        <p:nvGrpSpPr>
          <p:cNvPr name="Group 27" id="27"/>
          <p:cNvGrpSpPr/>
          <p:nvPr/>
        </p:nvGrpSpPr>
        <p:grpSpPr>
          <a:xfrm rot="0">
            <a:off x="8334661" y="5939714"/>
            <a:ext cx="640080" cy="768096"/>
            <a:chOff x="0" y="0"/>
            <a:chExt cx="853440" cy="1024128"/>
          </a:xfrm>
        </p:grpSpPr>
        <p:sp>
          <p:nvSpPr>
            <p:cNvPr name="Freeform 28" id="28"/>
            <p:cNvSpPr/>
            <p:nvPr/>
          </p:nvSpPr>
          <p:spPr>
            <a:xfrm flipH="false" flipV="false" rot="0">
              <a:off x="0" y="0"/>
              <a:ext cx="853440" cy="1024128"/>
            </a:xfrm>
            <a:custGeom>
              <a:avLst/>
              <a:gdLst/>
              <a:ahLst/>
              <a:cxnLst/>
              <a:rect r="r" b="b" t="t" l="l"/>
              <a:pathLst>
                <a:path h="1024128" w="853440">
                  <a:moveTo>
                    <a:pt x="0" y="0"/>
                  </a:moveTo>
                  <a:lnTo>
                    <a:pt x="853440" y="0"/>
                  </a:lnTo>
                  <a:lnTo>
                    <a:pt x="853440" y="1024128"/>
                  </a:lnTo>
                  <a:lnTo>
                    <a:pt x="0" y="1024128"/>
                  </a:lnTo>
                  <a:close/>
                </a:path>
              </a:pathLst>
            </a:custGeom>
            <a:solidFill>
              <a:srgbClr val="1B3A8A"/>
            </a:solidFill>
          </p:spPr>
        </p:sp>
      </p:grpSp>
      <p:grpSp>
        <p:nvGrpSpPr>
          <p:cNvPr name="Group 29" id="29"/>
          <p:cNvGrpSpPr/>
          <p:nvPr/>
        </p:nvGrpSpPr>
        <p:grpSpPr>
          <a:xfrm rot="0">
            <a:off x="653701" y="6012866"/>
            <a:ext cx="7680960" cy="621792"/>
            <a:chOff x="0" y="0"/>
            <a:chExt cx="10241280" cy="829056"/>
          </a:xfrm>
        </p:grpSpPr>
        <p:sp>
          <p:nvSpPr>
            <p:cNvPr name="Freeform 30" id="30"/>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8">
                <a:alphaModFix amt="0"/>
              </a:blip>
              <a:stretch>
                <a:fillRect l="0" t="-190697" r="0" b="-190697"/>
              </a:stretch>
            </a:blipFill>
          </p:spPr>
        </p:sp>
        <p:sp>
          <p:nvSpPr>
            <p:cNvPr name="TextBox 31" id="31"/>
            <p:cNvSpPr txBox="true"/>
            <p:nvPr/>
          </p:nvSpPr>
          <p:spPr>
            <a:xfrm>
              <a:off x="0" y="-9525"/>
              <a:ext cx="10241280" cy="838581"/>
            </a:xfrm>
            <a:prstGeom prst="rect">
              <a:avLst/>
            </a:prstGeom>
          </p:spPr>
          <p:txBody>
            <a:bodyPr anchor="ctr" rtlCol="false" tIns="0" lIns="0" bIns="0" rIns="0"/>
            <a:lstStyle/>
            <a:p>
              <a:pPr algn="l">
                <a:lnSpc>
                  <a:spcPts val="3840"/>
                </a:lnSpc>
              </a:pPr>
              <a:r>
                <a:rPr lang="en-US" sz="3200" b="true">
                  <a:solidFill>
                    <a:srgbClr val="000000"/>
                  </a:solidFill>
                  <a:latin typeface="Lato Bold"/>
                  <a:ea typeface="Lato Bold"/>
                  <a:cs typeface="Lato Bold"/>
                  <a:sym typeface="Lato Bold"/>
                </a:rPr>
                <a:t>AI / Tool Integration</a:t>
              </a:r>
            </a:p>
          </p:txBody>
        </p:sp>
      </p:grpSp>
      <p:sp>
        <p:nvSpPr>
          <p:cNvPr name="TextBox 32" id="32"/>
          <p:cNvSpPr txBox="true"/>
          <p:nvPr/>
        </p:nvSpPr>
        <p:spPr>
          <a:xfrm rot="0">
            <a:off x="745141" y="6890309"/>
            <a:ext cx="7863840" cy="981075"/>
          </a:xfrm>
          <a:prstGeom prst="rect">
            <a:avLst/>
          </a:prstGeom>
        </p:spPr>
        <p:txBody>
          <a:bodyPr anchor="t" rtlCol="false" tIns="0" lIns="0" bIns="0" rIns="0">
            <a:spAutoFit/>
          </a:bodyPr>
          <a:lstStyle/>
          <a:p>
            <a:pPr algn="l">
              <a:lnSpc>
                <a:spcPts val="3840"/>
              </a:lnSpc>
            </a:pPr>
            <a:r>
              <a:rPr lang="en-US" sz="3200">
                <a:solidFill>
                  <a:srgbClr val="1A1A2E"/>
                </a:solidFill>
                <a:latin typeface="Lato"/>
                <a:ea typeface="Lato"/>
                <a:cs typeface="Lato"/>
                <a:sym typeface="Lato"/>
              </a:rPr>
              <a:t>.CSV files in Excel form the knowledge base of the document, </a:t>
            </a:r>
          </a:p>
        </p:txBody>
      </p:sp>
      <p:grpSp>
        <p:nvGrpSpPr>
          <p:cNvPr name="Group 33" id="33"/>
          <p:cNvGrpSpPr/>
          <p:nvPr/>
        </p:nvGrpSpPr>
        <p:grpSpPr>
          <a:xfrm rot="0">
            <a:off x="9340501" y="5939714"/>
            <a:ext cx="8229600" cy="768096"/>
            <a:chOff x="0" y="0"/>
            <a:chExt cx="10972800" cy="1024128"/>
          </a:xfrm>
        </p:grpSpPr>
        <p:sp>
          <p:nvSpPr>
            <p:cNvPr name="Freeform 34" id="34"/>
            <p:cNvSpPr/>
            <p:nvPr/>
          </p:nvSpPr>
          <p:spPr>
            <a:xfrm flipH="false" flipV="false" rot="0">
              <a:off x="0" y="0"/>
              <a:ext cx="10972800" cy="1024128"/>
            </a:xfrm>
            <a:custGeom>
              <a:avLst/>
              <a:gdLst/>
              <a:ahLst/>
              <a:cxnLst/>
              <a:rect r="r" b="b" t="t" l="l"/>
              <a:pathLst>
                <a:path h="1024128" w="10972800">
                  <a:moveTo>
                    <a:pt x="0" y="0"/>
                  </a:moveTo>
                  <a:lnTo>
                    <a:pt x="10972800" y="0"/>
                  </a:lnTo>
                  <a:lnTo>
                    <a:pt x="10972800" y="1024128"/>
                  </a:lnTo>
                  <a:lnTo>
                    <a:pt x="0" y="1024128"/>
                  </a:lnTo>
                  <a:close/>
                </a:path>
              </a:pathLst>
            </a:custGeom>
            <a:solidFill>
              <a:srgbClr val="DAE3F3"/>
            </a:solidFill>
          </p:spPr>
        </p:sp>
      </p:grpSp>
      <p:grpSp>
        <p:nvGrpSpPr>
          <p:cNvPr name="Group 35" id="35"/>
          <p:cNvGrpSpPr/>
          <p:nvPr/>
        </p:nvGrpSpPr>
        <p:grpSpPr>
          <a:xfrm rot="0">
            <a:off x="17204341" y="5939714"/>
            <a:ext cx="640080" cy="768096"/>
            <a:chOff x="0" y="0"/>
            <a:chExt cx="853440" cy="1024128"/>
          </a:xfrm>
        </p:grpSpPr>
        <p:sp>
          <p:nvSpPr>
            <p:cNvPr name="Freeform 36" id="36"/>
            <p:cNvSpPr/>
            <p:nvPr/>
          </p:nvSpPr>
          <p:spPr>
            <a:xfrm flipH="false" flipV="false" rot="0">
              <a:off x="0" y="0"/>
              <a:ext cx="853440" cy="1024128"/>
            </a:xfrm>
            <a:custGeom>
              <a:avLst/>
              <a:gdLst/>
              <a:ahLst/>
              <a:cxnLst/>
              <a:rect r="r" b="b" t="t" l="l"/>
              <a:pathLst>
                <a:path h="1024128" w="853440">
                  <a:moveTo>
                    <a:pt x="0" y="0"/>
                  </a:moveTo>
                  <a:lnTo>
                    <a:pt x="853440" y="0"/>
                  </a:lnTo>
                  <a:lnTo>
                    <a:pt x="853440" y="1024128"/>
                  </a:lnTo>
                  <a:lnTo>
                    <a:pt x="0" y="1024128"/>
                  </a:lnTo>
                  <a:close/>
                </a:path>
              </a:pathLst>
            </a:custGeom>
            <a:solidFill>
              <a:srgbClr val="1B3A8A"/>
            </a:solidFill>
          </p:spPr>
        </p:sp>
      </p:grpSp>
      <p:grpSp>
        <p:nvGrpSpPr>
          <p:cNvPr name="Group 37" id="37"/>
          <p:cNvGrpSpPr/>
          <p:nvPr/>
        </p:nvGrpSpPr>
        <p:grpSpPr>
          <a:xfrm rot="0">
            <a:off x="9523381" y="6012866"/>
            <a:ext cx="7680960" cy="621792"/>
            <a:chOff x="0" y="0"/>
            <a:chExt cx="10241280" cy="829056"/>
          </a:xfrm>
        </p:grpSpPr>
        <p:sp>
          <p:nvSpPr>
            <p:cNvPr name="Freeform 38" id="38"/>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8">
                <a:alphaModFix amt="0"/>
              </a:blip>
              <a:stretch>
                <a:fillRect l="0" t="-190697" r="0" b="-190697"/>
              </a:stretch>
            </a:blipFill>
          </p:spPr>
        </p:sp>
        <p:sp>
          <p:nvSpPr>
            <p:cNvPr name="TextBox 39" id="39"/>
            <p:cNvSpPr txBox="true"/>
            <p:nvPr/>
          </p:nvSpPr>
          <p:spPr>
            <a:xfrm>
              <a:off x="0" y="-9525"/>
              <a:ext cx="10241280" cy="838581"/>
            </a:xfrm>
            <a:prstGeom prst="rect">
              <a:avLst/>
            </a:prstGeom>
          </p:spPr>
          <p:txBody>
            <a:bodyPr anchor="ctr" rtlCol="false" tIns="0" lIns="0" bIns="0" rIns="0"/>
            <a:lstStyle/>
            <a:p>
              <a:pPr algn="l">
                <a:lnSpc>
                  <a:spcPts val="3840"/>
                </a:lnSpc>
              </a:pPr>
              <a:r>
                <a:rPr lang="en-US" sz="3200" b="true">
                  <a:solidFill>
                    <a:srgbClr val="000000"/>
                  </a:solidFill>
                  <a:latin typeface="Lato Bold"/>
                  <a:ea typeface="Lato Bold"/>
                  <a:cs typeface="Lato Bold"/>
                  <a:sym typeface="Lato Bold"/>
                </a:rPr>
                <a:t>Output / Dashboard</a:t>
              </a:r>
            </a:p>
          </p:txBody>
        </p:sp>
      </p:grpSp>
      <p:sp>
        <p:nvSpPr>
          <p:cNvPr name="TextBox 40" id="40"/>
          <p:cNvSpPr txBox="true"/>
          <p:nvPr/>
        </p:nvSpPr>
        <p:spPr>
          <a:xfrm rot="0">
            <a:off x="9614821" y="6890309"/>
            <a:ext cx="7863840" cy="1952625"/>
          </a:xfrm>
          <a:prstGeom prst="rect">
            <a:avLst/>
          </a:prstGeom>
        </p:spPr>
        <p:txBody>
          <a:bodyPr anchor="t" rtlCol="false" tIns="0" lIns="0" bIns="0" rIns="0">
            <a:spAutoFit/>
          </a:bodyPr>
          <a:lstStyle/>
          <a:p>
            <a:pPr algn="l">
              <a:lnSpc>
                <a:spcPts val="3840"/>
              </a:lnSpc>
            </a:pPr>
            <a:r>
              <a:rPr lang="en-US" sz="3200">
                <a:solidFill>
                  <a:srgbClr val="1A1A2E"/>
                </a:solidFill>
                <a:latin typeface="Lato"/>
                <a:ea typeface="Lato"/>
                <a:cs typeface="Lato"/>
                <a:sym typeface="Lato"/>
              </a:rPr>
              <a:t>The final output is a conversational chatbot designed to give detailed responses based on user input for job,resume and project advice.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241249" y="1214599"/>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Live Demo of Project</a:t>
              </a:r>
            </a:p>
          </p:txBody>
        </p:sp>
      </p:grpSp>
      <p:grpSp>
        <p:nvGrpSpPr>
          <p:cNvPr name="Group 9" id="9"/>
          <p:cNvGrpSpPr/>
          <p:nvPr/>
        </p:nvGrpSpPr>
        <p:grpSpPr>
          <a:xfrm rot="0">
            <a:off x="250974" y="2211676"/>
            <a:ext cx="16824960" cy="733120"/>
            <a:chOff x="0" y="0"/>
            <a:chExt cx="22433280" cy="977494"/>
          </a:xfrm>
        </p:grpSpPr>
        <p:sp>
          <p:nvSpPr>
            <p:cNvPr name="Freeform 10" id="10"/>
            <p:cNvSpPr/>
            <p:nvPr/>
          </p:nvSpPr>
          <p:spPr>
            <a:xfrm flipH="false" flipV="false" rot="0">
              <a:off x="0" y="0"/>
              <a:ext cx="22433280" cy="977494"/>
            </a:xfrm>
            <a:custGeom>
              <a:avLst/>
              <a:gdLst/>
              <a:ahLst/>
              <a:cxnLst/>
              <a:rect r="r" b="b" t="t" l="l"/>
              <a:pathLst>
                <a:path h="977494" w="22433280">
                  <a:moveTo>
                    <a:pt x="0" y="0"/>
                  </a:moveTo>
                  <a:lnTo>
                    <a:pt x="22433280" y="0"/>
                  </a:lnTo>
                  <a:lnTo>
                    <a:pt x="22433280" y="977494"/>
                  </a:lnTo>
                  <a:lnTo>
                    <a:pt x="0" y="977494"/>
                  </a:lnTo>
                  <a:close/>
                </a:path>
              </a:pathLst>
            </a:custGeom>
            <a:blipFill>
              <a:blip r:embed="rId8">
                <a:alphaModFix amt="0"/>
              </a:blip>
              <a:stretch>
                <a:fillRect l="0" t="-403523" r="0" b="-390832"/>
              </a:stretch>
            </a:blipFill>
          </p:spPr>
        </p:sp>
        <p:sp>
          <p:nvSpPr>
            <p:cNvPr name="TextBox 11" id="11"/>
            <p:cNvSpPr txBox="true"/>
            <p:nvPr/>
          </p:nvSpPr>
          <p:spPr>
            <a:xfrm>
              <a:off x="0" y="-9525"/>
              <a:ext cx="22433280" cy="987019"/>
            </a:xfrm>
            <a:prstGeom prst="rect">
              <a:avLst/>
            </a:prstGeom>
          </p:spPr>
          <p:txBody>
            <a:bodyPr anchor="ctr" rtlCol="false" tIns="0" lIns="0" bIns="0" rIns="0"/>
            <a:lstStyle/>
            <a:p>
              <a:pPr algn="l">
                <a:lnSpc>
                  <a:spcPts val="4320"/>
                </a:lnSpc>
              </a:pPr>
              <a:r>
                <a:rPr lang="en-US" sz="3600">
                  <a:solidFill>
                    <a:srgbClr val="000000"/>
                  </a:solidFill>
                  <a:latin typeface="Lato"/>
                  <a:ea typeface="Lato"/>
                  <a:cs typeface="Lato"/>
                  <a:sym typeface="Lato"/>
                </a:rPr>
                <a:t>Here are the demo versions of my project: </a:t>
              </a:r>
            </a:p>
          </p:txBody>
        </p:sp>
      </p:grpSp>
      <p:grpSp>
        <p:nvGrpSpPr>
          <p:cNvPr name="Group 12" id="12"/>
          <p:cNvGrpSpPr/>
          <p:nvPr/>
        </p:nvGrpSpPr>
        <p:grpSpPr>
          <a:xfrm rot="0">
            <a:off x="1918716" y="3258379"/>
            <a:ext cx="2819400" cy="2819400"/>
            <a:chOff x="0" y="0"/>
            <a:chExt cx="3759200" cy="3759200"/>
          </a:xfrm>
        </p:grpSpPr>
        <p:sp>
          <p:nvSpPr>
            <p:cNvPr name="Freeform 13" id="13"/>
            <p:cNvSpPr/>
            <p:nvPr/>
          </p:nvSpPr>
          <p:spPr>
            <a:xfrm flipH="false" flipV="false" rot="0">
              <a:off x="50800" y="50800"/>
              <a:ext cx="3657600" cy="3657600"/>
            </a:xfrm>
            <a:custGeom>
              <a:avLst/>
              <a:gdLst/>
              <a:ahLst/>
              <a:cxnLst/>
              <a:rect r="r" b="b" t="t" l="l"/>
              <a:pathLst>
                <a:path h="3657600" w="3657600">
                  <a:moveTo>
                    <a:pt x="0" y="1828800"/>
                  </a:moveTo>
                  <a:cubicBezTo>
                    <a:pt x="0" y="818769"/>
                    <a:pt x="818769" y="0"/>
                    <a:pt x="1828800" y="0"/>
                  </a:cubicBezTo>
                  <a:cubicBezTo>
                    <a:pt x="2838831" y="0"/>
                    <a:pt x="3657600" y="818769"/>
                    <a:pt x="3657600" y="1828800"/>
                  </a:cubicBezTo>
                  <a:cubicBezTo>
                    <a:pt x="3657600" y="2838831"/>
                    <a:pt x="2838831" y="3657600"/>
                    <a:pt x="1828800" y="3657600"/>
                  </a:cubicBezTo>
                  <a:cubicBezTo>
                    <a:pt x="818769" y="3657600"/>
                    <a:pt x="0" y="2838831"/>
                    <a:pt x="0" y="1828800"/>
                  </a:cubicBezTo>
                  <a:close/>
                </a:path>
              </a:pathLst>
            </a:custGeom>
            <a:solidFill>
              <a:srgbClr val="1565C0"/>
            </a:solidFill>
          </p:spPr>
        </p:sp>
        <p:sp>
          <p:nvSpPr>
            <p:cNvPr name="Freeform 14" id="14"/>
            <p:cNvSpPr/>
            <p:nvPr/>
          </p:nvSpPr>
          <p:spPr>
            <a:xfrm flipH="false" flipV="false" rot="0">
              <a:off x="0" y="0"/>
              <a:ext cx="3759200" cy="3759200"/>
            </a:xfrm>
            <a:custGeom>
              <a:avLst/>
              <a:gdLst/>
              <a:ahLst/>
              <a:cxnLst/>
              <a:rect r="r" b="b" t="t" l="l"/>
              <a:pathLst>
                <a:path h="3759200" w="3759200">
                  <a:moveTo>
                    <a:pt x="0" y="1879600"/>
                  </a:moveTo>
                  <a:cubicBezTo>
                    <a:pt x="0" y="841502"/>
                    <a:pt x="841502" y="0"/>
                    <a:pt x="1879600" y="0"/>
                  </a:cubicBezTo>
                  <a:lnTo>
                    <a:pt x="1879600" y="50800"/>
                  </a:lnTo>
                  <a:lnTo>
                    <a:pt x="1879600" y="0"/>
                  </a:lnTo>
                  <a:cubicBezTo>
                    <a:pt x="2917698" y="0"/>
                    <a:pt x="3759200" y="841502"/>
                    <a:pt x="3759200" y="1879600"/>
                  </a:cubicBezTo>
                  <a:lnTo>
                    <a:pt x="3708400" y="1879600"/>
                  </a:lnTo>
                  <a:lnTo>
                    <a:pt x="3759200" y="1879600"/>
                  </a:lnTo>
                  <a:cubicBezTo>
                    <a:pt x="3759200" y="2917698"/>
                    <a:pt x="2917698" y="3759200"/>
                    <a:pt x="1879600" y="3759200"/>
                  </a:cubicBezTo>
                  <a:lnTo>
                    <a:pt x="1879600" y="3708400"/>
                  </a:lnTo>
                  <a:lnTo>
                    <a:pt x="1879600" y="3759200"/>
                  </a:lnTo>
                  <a:cubicBezTo>
                    <a:pt x="841502" y="3759200"/>
                    <a:pt x="0" y="2917698"/>
                    <a:pt x="0" y="1879600"/>
                  </a:cubicBezTo>
                  <a:lnTo>
                    <a:pt x="50800" y="1879600"/>
                  </a:lnTo>
                  <a:lnTo>
                    <a:pt x="93853" y="1906524"/>
                  </a:lnTo>
                  <a:cubicBezTo>
                    <a:pt x="81788" y="1925701"/>
                    <a:pt x="58547" y="1934718"/>
                    <a:pt x="36830" y="1928368"/>
                  </a:cubicBezTo>
                  <a:cubicBezTo>
                    <a:pt x="15113" y="1922018"/>
                    <a:pt x="0" y="1902206"/>
                    <a:pt x="0" y="1879600"/>
                  </a:cubicBezTo>
                  <a:moveTo>
                    <a:pt x="101600" y="1879600"/>
                  </a:moveTo>
                  <a:lnTo>
                    <a:pt x="50800" y="1879600"/>
                  </a:lnTo>
                  <a:lnTo>
                    <a:pt x="7747" y="1852676"/>
                  </a:lnTo>
                  <a:cubicBezTo>
                    <a:pt x="19812" y="1833499"/>
                    <a:pt x="43053" y="1824482"/>
                    <a:pt x="64770" y="1830832"/>
                  </a:cubicBezTo>
                  <a:cubicBezTo>
                    <a:pt x="86487" y="1837182"/>
                    <a:pt x="101600" y="1856994"/>
                    <a:pt x="101600" y="1879600"/>
                  </a:cubicBezTo>
                  <a:cubicBezTo>
                    <a:pt x="101600" y="2861564"/>
                    <a:pt x="897636" y="3657600"/>
                    <a:pt x="1879600" y="3657600"/>
                  </a:cubicBezTo>
                  <a:cubicBezTo>
                    <a:pt x="2861564" y="3657600"/>
                    <a:pt x="3657600" y="2861564"/>
                    <a:pt x="3657600" y="1879600"/>
                  </a:cubicBezTo>
                  <a:cubicBezTo>
                    <a:pt x="3657600" y="897636"/>
                    <a:pt x="2861564" y="101600"/>
                    <a:pt x="1879600" y="101600"/>
                  </a:cubicBezTo>
                  <a:lnTo>
                    <a:pt x="1879600" y="50800"/>
                  </a:lnTo>
                  <a:lnTo>
                    <a:pt x="1879600" y="101600"/>
                  </a:lnTo>
                  <a:cubicBezTo>
                    <a:pt x="897636" y="101600"/>
                    <a:pt x="101600" y="897636"/>
                    <a:pt x="101600" y="1879600"/>
                  </a:cubicBezTo>
                  <a:close/>
                </a:path>
              </a:pathLst>
            </a:custGeom>
            <a:solidFill>
              <a:srgbClr val="FFFFFF"/>
            </a:solidFill>
          </p:spPr>
        </p:sp>
      </p:grpSp>
      <p:grpSp>
        <p:nvGrpSpPr>
          <p:cNvPr name="Group 15" id="15"/>
          <p:cNvGrpSpPr/>
          <p:nvPr/>
        </p:nvGrpSpPr>
        <p:grpSpPr>
          <a:xfrm rot="0">
            <a:off x="548640" y="4393759"/>
            <a:ext cx="5577840" cy="5303520"/>
            <a:chOff x="0" y="0"/>
            <a:chExt cx="7437120" cy="7071360"/>
          </a:xfrm>
        </p:grpSpPr>
        <p:sp>
          <p:nvSpPr>
            <p:cNvPr name="Freeform 16" id="16"/>
            <p:cNvSpPr/>
            <p:nvPr/>
          </p:nvSpPr>
          <p:spPr>
            <a:xfrm flipH="false" flipV="false" rot="0">
              <a:off x="0" y="0"/>
              <a:ext cx="7437120" cy="7071360"/>
            </a:xfrm>
            <a:custGeom>
              <a:avLst/>
              <a:gdLst/>
              <a:ahLst/>
              <a:cxnLst/>
              <a:rect r="r" b="b" t="t" l="l"/>
              <a:pathLst>
                <a:path h="7071360" w="7437120">
                  <a:moveTo>
                    <a:pt x="0" y="0"/>
                  </a:moveTo>
                  <a:lnTo>
                    <a:pt x="7437120" y="0"/>
                  </a:lnTo>
                  <a:lnTo>
                    <a:pt x="7437120" y="7071360"/>
                  </a:lnTo>
                  <a:lnTo>
                    <a:pt x="0" y="7071360"/>
                  </a:lnTo>
                  <a:close/>
                </a:path>
              </a:pathLst>
            </a:custGeom>
            <a:solidFill>
              <a:srgbClr val="DAE3F3"/>
            </a:solidFill>
          </p:spPr>
        </p:sp>
      </p:grpSp>
      <p:grpSp>
        <p:nvGrpSpPr>
          <p:cNvPr name="Group 17" id="17"/>
          <p:cNvGrpSpPr/>
          <p:nvPr/>
        </p:nvGrpSpPr>
        <p:grpSpPr>
          <a:xfrm rot="0">
            <a:off x="548640" y="4827603"/>
            <a:ext cx="5577840" cy="822960"/>
            <a:chOff x="0" y="0"/>
            <a:chExt cx="7437120" cy="1097280"/>
          </a:xfrm>
        </p:grpSpPr>
        <p:sp>
          <p:nvSpPr>
            <p:cNvPr name="Freeform 18" id="18"/>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8">
                <a:alphaModFix amt="0"/>
              </a:blip>
              <a:stretch>
                <a:fillRect l="0" t="-82065" r="0" b="-82065"/>
              </a:stretch>
            </a:blipFill>
          </p:spPr>
        </p:sp>
        <p:sp>
          <p:nvSpPr>
            <p:cNvPr name="TextBox 19" id="19"/>
            <p:cNvSpPr txBox="true"/>
            <p:nvPr/>
          </p:nvSpPr>
          <p:spPr>
            <a:xfrm>
              <a:off x="0" y="-9525"/>
              <a:ext cx="7437120" cy="1106805"/>
            </a:xfrm>
            <a:prstGeom prst="rect">
              <a:avLst/>
            </a:prstGeom>
          </p:spPr>
          <p:txBody>
            <a:bodyPr anchor="ctr" rtlCol="false" tIns="0" lIns="0" bIns="0" rIns="0"/>
            <a:lstStyle/>
            <a:p>
              <a:pPr algn="ctr">
                <a:lnSpc>
                  <a:spcPts val="3840"/>
                </a:lnSpc>
              </a:pPr>
              <a:r>
                <a:rPr lang="en-US" sz="3200" b="true">
                  <a:solidFill>
                    <a:srgbClr val="000000"/>
                  </a:solidFill>
                  <a:latin typeface="Lato Bold"/>
                  <a:ea typeface="Lato Bold"/>
                  <a:cs typeface="Lato Bold"/>
                  <a:sym typeface="Lato Bold"/>
                </a:rPr>
                <a:t>Demo 1</a:t>
              </a:r>
            </a:p>
          </p:txBody>
        </p:sp>
      </p:grpSp>
      <p:grpSp>
        <p:nvGrpSpPr>
          <p:cNvPr name="Group 20" id="20"/>
          <p:cNvGrpSpPr/>
          <p:nvPr/>
        </p:nvGrpSpPr>
        <p:grpSpPr>
          <a:xfrm rot="0">
            <a:off x="822960" y="5839673"/>
            <a:ext cx="5029200" cy="2743200"/>
            <a:chOff x="0" y="0"/>
            <a:chExt cx="6705600" cy="3657600"/>
          </a:xfrm>
        </p:grpSpPr>
        <p:sp>
          <p:nvSpPr>
            <p:cNvPr name="Freeform 21" id="21"/>
            <p:cNvSpPr/>
            <p:nvPr/>
          </p:nvSpPr>
          <p:spPr>
            <a:xfrm flipH="false" flipV="false" rot="0">
              <a:off x="0" y="0"/>
              <a:ext cx="6705600" cy="3657600"/>
            </a:xfrm>
            <a:custGeom>
              <a:avLst/>
              <a:gdLst/>
              <a:ahLst/>
              <a:cxnLst/>
              <a:rect r="r" b="b" t="t" l="l"/>
              <a:pathLst>
                <a:path h="3657600" w="6705600">
                  <a:moveTo>
                    <a:pt x="0" y="0"/>
                  </a:moveTo>
                  <a:lnTo>
                    <a:pt x="6705600" y="0"/>
                  </a:lnTo>
                  <a:lnTo>
                    <a:pt x="6705600" y="3657600"/>
                  </a:lnTo>
                  <a:lnTo>
                    <a:pt x="0" y="3657600"/>
                  </a:lnTo>
                  <a:close/>
                </a:path>
              </a:pathLst>
            </a:custGeom>
            <a:blipFill>
              <a:blip r:embed="rId8">
                <a:alphaModFix amt="0"/>
              </a:blip>
              <a:stretch>
                <a:fillRect l="-19983" t="0" r="-19983" b="0"/>
              </a:stretch>
            </a:blipFill>
          </p:spPr>
        </p:sp>
        <p:sp>
          <p:nvSpPr>
            <p:cNvPr name="TextBox 22" id="22"/>
            <p:cNvSpPr txBox="true"/>
            <p:nvPr/>
          </p:nvSpPr>
          <p:spPr>
            <a:xfrm>
              <a:off x="0" y="-9525"/>
              <a:ext cx="6705600" cy="3667125"/>
            </a:xfrm>
            <a:prstGeom prst="rect">
              <a:avLst/>
            </a:prstGeom>
          </p:spPr>
          <p:txBody>
            <a:bodyPr anchor="ctr" rtlCol="false" tIns="0" lIns="0" bIns="0" rIns="0"/>
            <a:lstStyle/>
            <a:p>
              <a:pPr algn="ctr">
                <a:lnSpc>
                  <a:spcPts val="3840"/>
                </a:lnSpc>
              </a:pPr>
              <a:r>
                <a:rPr lang="en-US" sz="3200" u="sng">
                  <a:solidFill>
                    <a:srgbClr val="000000"/>
                  </a:solidFill>
                  <a:latin typeface="Lato"/>
                  <a:ea typeface="Lato"/>
                  <a:cs typeface="Lato"/>
                  <a:sym typeface="Lato"/>
                  <a:hlinkClick r:id="rId9" tooltip="https://github.com/sxcbmmkxshi-code/AICW-Marketing-chatbot.git"/>
                </a:rPr>
                <a:t>https://github.com/sxcbmmkxshi-code/AICW-Marketing-chatbot.git</a:t>
              </a:r>
            </a:p>
            <a:p>
              <a:pPr algn="ctr">
                <a:lnSpc>
                  <a:spcPts val="3840"/>
                </a:lnSpc>
              </a:pPr>
            </a:p>
          </p:txBody>
        </p:sp>
      </p:grpSp>
      <p:grpSp>
        <p:nvGrpSpPr>
          <p:cNvPr name="Group 23" id="23"/>
          <p:cNvGrpSpPr/>
          <p:nvPr/>
        </p:nvGrpSpPr>
        <p:grpSpPr>
          <a:xfrm rot="0">
            <a:off x="7807452" y="3258379"/>
            <a:ext cx="2819400" cy="2819400"/>
            <a:chOff x="0" y="0"/>
            <a:chExt cx="3759200" cy="3759200"/>
          </a:xfrm>
        </p:grpSpPr>
        <p:sp>
          <p:nvSpPr>
            <p:cNvPr name="Freeform 24" id="24"/>
            <p:cNvSpPr/>
            <p:nvPr/>
          </p:nvSpPr>
          <p:spPr>
            <a:xfrm flipH="false" flipV="false" rot="0">
              <a:off x="50800" y="50800"/>
              <a:ext cx="3657600" cy="3657600"/>
            </a:xfrm>
            <a:custGeom>
              <a:avLst/>
              <a:gdLst/>
              <a:ahLst/>
              <a:cxnLst/>
              <a:rect r="r" b="b" t="t" l="l"/>
              <a:pathLst>
                <a:path h="3657600" w="3657600">
                  <a:moveTo>
                    <a:pt x="0" y="1828800"/>
                  </a:moveTo>
                  <a:cubicBezTo>
                    <a:pt x="0" y="818769"/>
                    <a:pt x="818769" y="0"/>
                    <a:pt x="1828800" y="0"/>
                  </a:cubicBezTo>
                  <a:cubicBezTo>
                    <a:pt x="2838831" y="0"/>
                    <a:pt x="3657600" y="818769"/>
                    <a:pt x="3657600" y="1828800"/>
                  </a:cubicBezTo>
                  <a:cubicBezTo>
                    <a:pt x="3657600" y="2838831"/>
                    <a:pt x="2838831" y="3657600"/>
                    <a:pt x="1828800" y="3657600"/>
                  </a:cubicBezTo>
                  <a:cubicBezTo>
                    <a:pt x="818769" y="3657600"/>
                    <a:pt x="0" y="2838831"/>
                    <a:pt x="0" y="1828800"/>
                  </a:cubicBezTo>
                  <a:close/>
                </a:path>
              </a:pathLst>
            </a:custGeom>
            <a:solidFill>
              <a:srgbClr val="FFC000"/>
            </a:solidFill>
          </p:spPr>
        </p:sp>
        <p:sp>
          <p:nvSpPr>
            <p:cNvPr name="Freeform 25" id="25"/>
            <p:cNvSpPr/>
            <p:nvPr/>
          </p:nvSpPr>
          <p:spPr>
            <a:xfrm flipH="false" flipV="false" rot="0">
              <a:off x="0" y="0"/>
              <a:ext cx="3759200" cy="3759200"/>
            </a:xfrm>
            <a:custGeom>
              <a:avLst/>
              <a:gdLst/>
              <a:ahLst/>
              <a:cxnLst/>
              <a:rect r="r" b="b" t="t" l="l"/>
              <a:pathLst>
                <a:path h="3759200" w="3759200">
                  <a:moveTo>
                    <a:pt x="0" y="1879600"/>
                  </a:moveTo>
                  <a:cubicBezTo>
                    <a:pt x="0" y="841502"/>
                    <a:pt x="841502" y="0"/>
                    <a:pt x="1879600" y="0"/>
                  </a:cubicBezTo>
                  <a:lnTo>
                    <a:pt x="1879600" y="50800"/>
                  </a:lnTo>
                  <a:lnTo>
                    <a:pt x="1879600" y="0"/>
                  </a:lnTo>
                  <a:cubicBezTo>
                    <a:pt x="2917698" y="0"/>
                    <a:pt x="3759200" y="841502"/>
                    <a:pt x="3759200" y="1879600"/>
                  </a:cubicBezTo>
                  <a:lnTo>
                    <a:pt x="3708400" y="1879600"/>
                  </a:lnTo>
                  <a:lnTo>
                    <a:pt x="3759200" y="1879600"/>
                  </a:lnTo>
                  <a:cubicBezTo>
                    <a:pt x="3759200" y="2917698"/>
                    <a:pt x="2917698" y="3759200"/>
                    <a:pt x="1879600" y="3759200"/>
                  </a:cubicBezTo>
                  <a:lnTo>
                    <a:pt x="1879600" y="3708400"/>
                  </a:lnTo>
                  <a:lnTo>
                    <a:pt x="1879600" y="3759200"/>
                  </a:lnTo>
                  <a:cubicBezTo>
                    <a:pt x="841502" y="3759200"/>
                    <a:pt x="0" y="2917698"/>
                    <a:pt x="0" y="1879600"/>
                  </a:cubicBezTo>
                  <a:lnTo>
                    <a:pt x="50800" y="1879600"/>
                  </a:lnTo>
                  <a:lnTo>
                    <a:pt x="93853" y="1906524"/>
                  </a:lnTo>
                  <a:cubicBezTo>
                    <a:pt x="81788" y="1925701"/>
                    <a:pt x="58547" y="1934718"/>
                    <a:pt x="36830" y="1928368"/>
                  </a:cubicBezTo>
                  <a:cubicBezTo>
                    <a:pt x="15113" y="1922018"/>
                    <a:pt x="0" y="1902206"/>
                    <a:pt x="0" y="1879600"/>
                  </a:cubicBezTo>
                  <a:moveTo>
                    <a:pt x="101600" y="1879600"/>
                  </a:moveTo>
                  <a:lnTo>
                    <a:pt x="50800" y="1879600"/>
                  </a:lnTo>
                  <a:lnTo>
                    <a:pt x="7747" y="1852676"/>
                  </a:lnTo>
                  <a:cubicBezTo>
                    <a:pt x="19812" y="1833499"/>
                    <a:pt x="43053" y="1824482"/>
                    <a:pt x="64770" y="1830832"/>
                  </a:cubicBezTo>
                  <a:cubicBezTo>
                    <a:pt x="86487" y="1837182"/>
                    <a:pt x="101600" y="1856994"/>
                    <a:pt x="101600" y="1879600"/>
                  </a:cubicBezTo>
                  <a:cubicBezTo>
                    <a:pt x="101600" y="2861564"/>
                    <a:pt x="897636" y="3657600"/>
                    <a:pt x="1879600" y="3657600"/>
                  </a:cubicBezTo>
                  <a:cubicBezTo>
                    <a:pt x="2861564" y="3657600"/>
                    <a:pt x="3657600" y="2861564"/>
                    <a:pt x="3657600" y="1879600"/>
                  </a:cubicBezTo>
                  <a:cubicBezTo>
                    <a:pt x="3657600" y="897636"/>
                    <a:pt x="2861564" y="101600"/>
                    <a:pt x="1879600" y="101600"/>
                  </a:cubicBezTo>
                  <a:lnTo>
                    <a:pt x="1879600" y="50800"/>
                  </a:lnTo>
                  <a:lnTo>
                    <a:pt x="1879600" y="101600"/>
                  </a:lnTo>
                  <a:cubicBezTo>
                    <a:pt x="897636" y="101600"/>
                    <a:pt x="101600" y="897636"/>
                    <a:pt x="101600" y="1879600"/>
                  </a:cubicBezTo>
                  <a:close/>
                </a:path>
              </a:pathLst>
            </a:custGeom>
            <a:solidFill>
              <a:srgbClr val="FFFFFF"/>
            </a:solidFill>
          </p:spPr>
        </p:sp>
      </p:grpSp>
      <p:grpSp>
        <p:nvGrpSpPr>
          <p:cNvPr name="Group 26" id="26"/>
          <p:cNvGrpSpPr/>
          <p:nvPr/>
        </p:nvGrpSpPr>
        <p:grpSpPr>
          <a:xfrm rot="0">
            <a:off x="6355080" y="4306872"/>
            <a:ext cx="5577840" cy="5303520"/>
            <a:chOff x="0" y="0"/>
            <a:chExt cx="7437120" cy="7071360"/>
          </a:xfrm>
        </p:grpSpPr>
        <p:sp>
          <p:nvSpPr>
            <p:cNvPr name="Freeform 27" id="27"/>
            <p:cNvSpPr/>
            <p:nvPr/>
          </p:nvSpPr>
          <p:spPr>
            <a:xfrm flipH="false" flipV="false" rot="0">
              <a:off x="0" y="0"/>
              <a:ext cx="7437120" cy="7071360"/>
            </a:xfrm>
            <a:custGeom>
              <a:avLst/>
              <a:gdLst/>
              <a:ahLst/>
              <a:cxnLst/>
              <a:rect r="r" b="b" t="t" l="l"/>
              <a:pathLst>
                <a:path h="7071360" w="7437120">
                  <a:moveTo>
                    <a:pt x="0" y="0"/>
                  </a:moveTo>
                  <a:lnTo>
                    <a:pt x="7437120" y="0"/>
                  </a:lnTo>
                  <a:lnTo>
                    <a:pt x="7437120" y="7071360"/>
                  </a:lnTo>
                  <a:lnTo>
                    <a:pt x="0" y="7071360"/>
                  </a:lnTo>
                  <a:close/>
                </a:path>
              </a:pathLst>
            </a:custGeom>
            <a:solidFill>
              <a:srgbClr val="FDF3ED"/>
            </a:solidFill>
          </p:spPr>
        </p:sp>
      </p:grpSp>
      <p:grpSp>
        <p:nvGrpSpPr>
          <p:cNvPr name="Group 28" id="28"/>
          <p:cNvGrpSpPr/>
          <p:nvPr/>
        </p:nvGrpSpPr>
        <p:grpSpPr>
          <a:xfrm rot="0">
            <a:off x="6437376" y="4827603"/>
            <a:ext cx="5577840" cy="822960"/>
            <a:chOff x="0" y="0"/>
            <a:chExt cx="7437120" cy="1097280"/>
          </a:xfrm>
        </p:grpSpPr>
        <p:sp>
          <p:nvSpPr>
            <p:cNvPr name="Freeform 29" id="29"/>
            <p:cNvSpPr/>
            <p:nvPr/>
          </p:nvSpPr>
          <p:spPr>
            <a:xfrm flipH="false" flipV="false" rot="0">
              <a:off x="0" y="0"/>
              <a:ext cx="7437120" cy="1097280"/>
            </a:xfrm>
            <a:custGeom>
              <a:avLst/>
              <a:gdLst/>
              <a:ahLst/>
              <a:cxnLst/>
              <a:rect r="r" b="b" t="t" l="l"/>
              <a:pathLst>
                <a:path h="1097280" w="7437120">
                  <a:moveTo>
                    <a:pt x="0" y="0"/>
                  </a:moveTo>
                  <a:lnTo>
                    <a:pt x="7437120" y="0"/>
                  </a:lnTo>
                  <a:lnTo>
                    <a:pt x="7437120" y="1097280"/>
                  </a:lnTo>
                  <a:lnTo>
                    <a:pt x="0" y="1097280"/>
                  </a:lnTo>
                  <a:close/>
                </a:path>
              </a:pathLst>
            </a:custGeom>
            <a:blipFill>
              <a:blip r:embed="rId8">
                <a:alphaModFix amt="0"/>
              </a:blip>
              <a:stretch>
                <a:fillRect l="0" t="-82065" r="0" b="-82065"/>
              </a:stretch>
            </a:blipFill>
          </p:spPr>
        </p:sp>
        <p:sp>
          <p:nvSpPr>
            <p:cNvPr name="TextBox 30" id="30"/>
            <p:cNvSpPr txBox="true"/>
            <p:nvPr/>
          </p:nvSpPr>
          <p:spPr>
            <a:xfrm>
              <a:off x="0" y="-9525"/>
              <a:ext cx="7437120" cy="1106805"/>
            </a:xfrm>
            <a:prstGeom prst="rect">
              <a:avLst/>
            </a:prstGeom>
          </p:spPr>
          <p:txBody>
            <a:bodyPr anchor="ctr" rtlCol="false" tIns="0" lIns="0" bIns="0" rIns="0"/>
            <a:lstStyle/>
            <a:p>
              <a:pPr algn="ctr">
                <a:lnSpc>
                  <a:spcPts val="3840"/>
                </a:lnSpc>
              </a:pPr>
              <a:r>
                <a:rPr lang="en-US" sz="3200" b="true">
                  <a:solidFill>
                    <a:srgbClr val="000000"/>
                  </a:solidFill>
                  <a:latin typeface="Lato Bold"/>
                  <a:ea typeface="Lato Bold"/>
                  <a:cs typeface="Lato Bold"/>
                  <a:sym typeface="Lato Bold"/>
                </a:rPr>
                <a:t>Demo 2</a:t>
              </a:r>
            </a:p>
          </p:txBody>
        </p:sp>
      </p:grpSp>
      <p:grpSp>
        <p:nvGrpSpPr>
          <p:cNvPr name="Group 31" id="31"/>
          <p:cNvGrpSpPr/>
          <p:nvPr/>
        </p:nvGrpSpPr>
        <p:grpSpPr>
          <a:xfrm rot="0">
            <a:off x="6629400" y="5774388"/>
            <a:ext cx="5029200" cy="2743200"/>
            <a:chOff x="0" y="0"/>
            <a:chExt cx="6705600" cy="3657600"/>
          </a:xfrm>
        </p:grpSpPr>
        <p:sp>
          <p:nvSpPr>
            <p:cNvPr name="Freeform 32" id="32"/>
            <p:cNvSpPr/>
            <p:nvPr/>
          </p:nvSpPr>
          <p:spPr>
            <a:xfrm flipH="false" flipV="false" rot="0">
              <a:off x="0" y="0"/>
              <a:ext cx="6705600" cy="3657600"/>
            </a:xfrm>
            <a:custGeom>
              <a:avLst/>
              <a:gdLst/>
              <a:ahLst/>
              <a:cxnLst/>
              <a:rect r="r" b="b" t="t" l="l"/>
              <a:pathLst>
                <a:path h="3657600" w="6705600">
                  <a:moveTo>
                    <a:pt x="0" y="0"/>
                  </a:moveTo>
                  <a:lnTo>
                    <a:pt x="6705600" y="0"/>
                  </a:lnTo>
                  <a:lnTo>
                    <a:pt x="6705600" y="3657600"/>
                  </a:lnTo>
                  <a:lnTo>
                    <a:pt x="0" y="3657600"/>
                  </a:lnTo>
                  <a:close/>
                </a:path>
              </a:pathLst>
            </a:custGeom>
            <a:blipFill>
              <a:blip r:embed="rId8">
                <a:alphaModFix amt="0"/>
              </a:blip>
              <a:stretch>
                <a:fillRect l="-19983" t="0" r="-19983" b="0"/>
              </a:stretch>
            </a:blipFill>
          </p:spPr>
        </p:sp>
        <p:sp>
          <p:nvSpPr>
            <p:cNvPr name="TextBox 33" id="33"/>
            <p:cNvSpPr txBox="true"/>
            <p:nvPr/>
          </p:nvSpPr>
          <p:spPr>
            <a:xfrm>
              <a:off x="0" y="-9525"/>
              <a:ext cx="6705600" cy="3667125"/>
            </a:xfrm>
            <a:prstGeom prst="rect">
              <a:avLst/>
            </a:prstGeom>
          </p:spPr>
          <p:txBody>
            <a:bodyPr anchor="ctr" rtlCol="false" tIns="0" lIns="0" bIns="0" rIns="0"/>
            <a:lstStyle/>
            <a:p>
              <a:pPr algn="ctr">
                <a:lnSpc>
                  <a:spcPts val="3840"/>
                </a:lnSpc>
              </a:pPr>
              <a:r>
                <a:rPr lang="en-US" sz="3200">
                  <a:solidFill>
                    <a:srgbClr val="000000"/>
                  </a:solidFill>
                  <a:latin typeface="Lato"/>
                  <a:ea typeface="Lato"/>
                  <a:cs typeface="Lato"/>
                  <a:sym typeface="Lato"/>
                </a:rPr>
                <a:t>https://canva.link/ixge2us2grfod2l</a:t>
              </a:r>
            </a:p>
          </p:txBody>
        </p:sp>
      </p:grpSp>
      <p:sp>
        <p:nvSpPr>
          <p:cNvPr name="Freeform 34" id="34"/>
          <p:cNvSpPr/>
          <p:nvPr/>
        </p:nvSpPr>
        <p:spPr>
          <a:xfrm flipH="false" flipV="false" rot="0">
            <a:off x="12243816" y="1028700"/>
            <a:ext cx="5327752" cy="8229600"/>
          </a:xfrm>
          <a:custGeom>
            <a:avLst/>
            <a:gdLst/>
            <a:ahLst/>
            <a:cxnLst/>
            <a:rect r="r" b="b" t="t" l="l"/>
            <a:pathLst>
              <a:path h="8229600" w="5327752">
                <a:moveTo>
                  <a:pt x="0" y="0"/>
                </a:moveTo>
                <a:lnTo>
                  <a:pt x="5327752" y="0"/>
                </a:lnTo>
                <a:lnTo>
                  <a:pt x="5327752" y="8229600"/>
                </a:lnTo>
                <a:lnTo>
                  <a:pt x="0" y="8229600"/>
                </a:lnTo>
                <a:lnTo>
                  <a:pt x="0" y="0"/>
                </a:lnTo>
                <a:close/>
              </a:path>
            </a:pathLst>
          </a:custGeom>
          <a:blipFill>
            <a:blip r:embed="rId10"/>
            <a:stretch>
              <a:fillRect l="-4565" t="0" r="-223" b="-1822"/>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640080" y="1243584"/>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76200"/>
              <a:ext cx="21945600" cy="1246632"/>
            </a:xfrm>
            <a:prstGeom prst="rect">
              <a:avLst/>
            </a:prstGeom>
          </p:spPr>
          <p:txBody>
            <a:bodyPr anchor="ctr" rtlCol="false" tIns="0" lIns="0" bIns="0" rIns="0"/>
            <a:lstStyle/>
            <a:p>
              <a:pPr algn="l">
                <a:lnSpc>
                  <a:spcPts val="5280"/>
                </a:lnSpc>
              </a:pPr>
              <a:r>
                <a:rPr lang="en-US" sz="4400" b="true">
                  <a:solidFill>
                    <a:srgbClr val="1B3A8A"/>
                  </a:solidFill>
                  <a:latin typeface="Calibri (MS) Bold"/>
                  <a:ea typeface="Calibri (MS) Bold"/>
                  <a:cs typeface="Calibri (MS) Bold"/>
                  <a:sym typeface="Calibri (MS) Bold"/>
                </a:rPr>
                <a:t>Video of Project Demo</a:t>
              </a:r>
            </a:p>
          </p:txBody>
        </p:sp>
      </p:grpSp>
      <p:grpSp>
        <p:nvGrpSpPr>
          <p:cNvPr name="Group 9" id="9"/>
          <p:cNvGrpSpPr/>
          <p:nvPr/>
        </p:nvGrpSpPr>
        <p:grpSpPr>
          <a:xfrm rot="0">
            <a:off x="1920240" y="2106581"/>
            <a:ext cx="14538960" cy="7711091"/>
            <a:chOff x="0" y="0"/>
            <a:chExt cx="20126860" cy="10674769"/>
          </a:xfrm>
        </p:grpSpPr>
        <p:sp>
          <p:nvSpPr>
            <p:cNvPr name="Freeform 10" id="10"/>
            <p:cNvSpPr/>
            <p:nvPr/>
          </p:nvSpPr>
          <p:spPr>
            <a:xfrm flipH="false" flipV="false" rot="0">
              <a:off x="30331" y="33909"/>
              <a:ext cx="20066278" cy="10607040"/>
            </a:xfrm>
            <a:custGeom>
              <a:avLst/>
              <a:gdLst/>
              <a:ahLst/>
              <a:cxnLst/>
              <a:rect r="r" b="b" t="t" l="l"/>
              <a:pathLst>
                <a:path h="10607040" w="20066278">
                  <a:moveTo>
                    <a:pt x="0" y="0"/>
                  </a:moveTo>
                  <a:lnTo>
                    <a:pt x="20066278" y="0"/>
                  </a:lnTo>
                  <a:lnTo>
                    <a:pt x="20066278" y="10607040"/>
                  </a:lnTo>
                  <a:lnTo>
                    <a:pt x="0" y="10607040"/>
                  </a:lnTo>
                  <a:close/>
                </a:path>
              </a:pathLst>
            </a:custGeom>
            <a:blipFill>
              <a:blip r:embed="rId9"/>
              <a:stretch>
                <a:fillRect l="-151" t="-3400" r="-152" b="-3335"/>
              </a:stretch>
            </a:blipFill>
          </p:spPr>
        </p:sp>
        <p:sp>
          <p:nvSpPr>
            <p:cNvPr name="Freeform 11" id="11"/>
            <p:cNvSpPr/>
            <p:nvPr/>
          </p:nvSpPr>
          <p:spPr>
            <a:xfrm flipH="false" flipV="false" rot="0">
              <a:off x="0" y="0"/>
              <a:ext cx="20126948" cy="10674858"/>
            </a:xfrm>
            <a:custGeom>
              <a:avLst/>
              <a:gdLst/>
              <a:ahLst/>
              <a:cxnLst/>
              <a:rect r="r" b="b" t="t" l="l"/>
              <a:pathLst>
                <a:path h="10674858" w="20126948">
                  <a:moveTo>
                    <a:pt x="30331" y="0"/>
                  </a:moveTo>
                  <a:lnTo>
                    <a:pt x="20096609" y="0"/>
                  </a:lnTo>
                  <a:cubicBezTo>
                    <a:pt x="20113307" y="0"/>
                    <a:pt x="20126948" y="15113"/>
                    <a:pt x="20126948" y="33909"/>
                  </a:cubicBezTo>
                  <a:lnTo>
                    <a:pt x="20126948" y="10640949"/>
                  </a:lnTo>
                  <a:cubicBezTo>
                    <a:pt x="20126948" y="10659618"/>
                    <a:pt x="20113422" y="10674858"/>
                    <a:pt x="20096609" y="10674858"/>
                  </a:cubicBezTo>
                  <a:lnTo>
                    <a:pt x="30331" y="10674858"/>
                  </a:lnTo>
                  <a:cubicBezTo>
                    <a:pt x="13632" y="10674858"/>
                    <a:pt x="0" y="10659745"/>
                    <a:pt x="0" y="10640949"/>
                  </a:cubicBezTo>
                  <a:lnTo>
                    <a:pt x="0" y="33909"/>
                  </a:lnTo>
                  <a:cubicBezTo>
                    <a:pt x="0" y="15113"/>
                    <a:pt x="13518" y="0"/>
                    <a:pt x="30331" y="0"/>
                  </a:cubicBezTo>
                  <a:moveTo>
                    <a:pt x="30331" y="67691"/>
                  </a:moveTo>
                  <a:lnTo>
                    <a:pt x="30331" y="33909"/>
                  </a:lnTo>
                  <a:lnTo>
                    <a:pt x="60549" y="33909"/>
                  </a:lnTo>
                  <a:lnTo>
                    <a:pt x="60549" y="10640949"/>
                  </a:lnTo>
                  <a:lnTo>
                    <a:pt x="30331" y="10640949"/>
                  </a:lnTo>
                  <a:lnTo>
                    <a:pt x="30331" y="10607040"/>
                  </a:lnTo>
                  <a:lnTo>
                    <a:pt x="20096609" y="10607040"/>
                  </a:lnTo>
                  <a:lnTo>
                    <a:pt x="20096609" y="10640949"/>
                  </a:lnTo>
                  <a:lnTo>
                    <a:pt x="20066278" y="10640949"/>
                  </a:lnTo>
                  <a:lnTo>
                    <a:pt x="20066278" y="33909"/>
                  </a:lnTo>
                  <a:lnTo>
                    <a:pt x="20096609" y="33909"/>
                  </a:lnTo>
                  <a:lnTo>
                    <a:pt x="20096609" y="67691"/>
                  </a:lnTo>
                  <a:lnTo>
                    <a:pt x="30331" y="67691"/>
                  </a:lnTo>
                  <a:close/>
                </a:path>
              </a:pathLst>
            </a:custGeom>
            <a:solidFill>
              <a:srgbClr val="1B3A8A"/>
            </a:solidFill>
          </p:spPr>
        </p:sp>
      </p:grpSp>
      <p:grpSp>
        <p:nvGrpSpPr>
          <p:cNvPr name="Group 12" id="12"/>
          <p:cNvGrpSpPr/>
          <p:nvPr/>
        </p:nvGrpSpPr>
        <p:grpSpPr>
          <a:xfrm rot="0">
            <a:off x="1005840" y="1554480"/>
            <a:ext cx="329184" cy="329184"/>
            <a:chOff x="0" y="0"/>
            <a:chExt cx="438912" cy="438912"/>
          </a:xfrm>
        </p:grpSpPr>
        <p:sp>
          <p:nvSpPr>
            <p:cNvPr name="Freeform 13" id="13"/>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FF5F57"/>
            </a:solidFill>
          </p:spPr>
        </p:sp>
      </p:grpSp>
      <p:grpSp>
        <p:nvGrpSpPr>
          <p:cNvPr name="Group 14" id="14"/>
          <p:cNvGrpSpPr/>
          <p:nvPr/>
        </p:nvGrpSpPr>
        <p:grpSpPr>
          <a:xfrm rot="0">
            <a:off x="1463040" y="1554480"/>
            <a:ext cx="329184" cy="329184"/>
            <a:chOff x="0" y="0"/>
            <a:chExt cx="438912" cy="438912"/>
          </a:xfrm>
        </p:grpSpPr>
        <p:sp>
          <p:nvSpPr>
            <p:cNvPr name="Freeform 15" id="15"/>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FEBC2E"/>
            </a:solidFill>
          </p:spPr>
        </p:sp>
      </p:grpSp>
      <p:grpSp>
        <p:nvGrpSpPr>
          <p:cNvPr name="Group 16" id="16"/>
          <p:cNvGrpSpPr/>
          <p:nvPr/>
        </p:nvGrpSpPr>
        <p:grpSpPr>
          <a:xfrm rot="0">
            <a:off x="1920240" y="1554480"/>
            <a:ext cx="329184" cy="329184"/>
            <a:chOff x="0" y="0"/>
            <a:chExt cx="438912" cy="438912"/>
          </a:xfrm>
        </p:grpSpPr>
        <p:sp>
          <p:nvSpPr>
            <p:cNvPr name="Freeform 17" id="17"/>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28C840"/>
            </a:solidFill>
          </p:spPr>
        </p:sp>
      </p:grpSp>
      <p:grpSp>
        <p:nvGrpSpPr>
          <p:cNvPr name="Group 18" id="18"/>
          <p:cNvGrpSpPr/>
          <p:nvPr/>
        </p:nvGrpSpPr>
        <p:grpSpPr>
          <a:xfrm rot="0">
            <a:off x="2736847" y="1548127"/>
            <a:ext cx="10071097" cy="415033"/>
            <a:chOff x="0" y="0"/>
            <a:chExt cx="13428129" cy="553377"/>
          </a:xfrm>
        </p:grpSpPr>
        <p:sp>
          <p:nvSpPr>
            <p:cNvPr name="Freeform 19" id="19"/>
            <p:cNvSpPr/>
            <p:nvPr/>
          </p:nvSpPr>
          <p:spPr>
            <a:xfrm flipH="false" flipV="false" rot="0">
              <a:off x="8509" y="8509"/>
              <a:ext cx="13411201" cy="536448"/>
            </a:xfrm>
            <a:custGeom>
              <a:avLst/>
              <a:gdLst/>
              <a:ahLst/>
              <a:cxnLst/>
              <a:rect r="r" b="b" t="t" l="l"/>
              <a:pathLst>
                <a:path h="536448" w="13411201">
                  <a:moveTo>
                    <a:pt x="0" y="0"/>
                  </a:moveTo>
                  <a:lnTo>
                    <a:pt x="13411201" y="0"/>
                  </a:lnTo>
                  <a:lnTo>
                    <a:pt x="13411201" y="536448"/>
                  </a:lnTo>
                  <a:lnTo>
                    <a:pt x="0" y="536448"/>
                  </a:lnTo>
                  <a:close/>
                </a:path>
              </a:pathLst>
            </a:custGeom>
            <a:solidFill>
              <a:srgbClr val="FFFFFF"/>
            </a:solidFill>
          </p:spPr>
        </p:sp>
        <p:sp>
          <p:nvSpPr>
            <p:cNvPr name="Freeform 20" id="20"/>
            <p:cNvSpPr/>
            <p:nvPr/>
          </p:nvSpPr>
          <p:spPr>
            <a:xfrm flipH="false" flipV="false" rot="0">
              <a:off x="0" y="0"/>
              <a:ext cx="13428218" cy="553466"/>
            </a:xfrm>
            <a:custGeom>
              <a:avLst/>
              <a:gdLst/>
              <a:ahLst/>
              <a:cxnLst/>
              <a:rect r="r" b="b" t="t" l="l"/>
              <a:pathLst>
                <a:path h="553466" w="13428218">
                  <a:moveTo>
                    <a:pt x="8509" y="0"/>
                  </a:moveTo>
                  <a:lnTo>
                    <a:pt x="13419710" y="0"/>
                  </a:lnTo>
                  <a:cubicBezTo>
                    <a:pt x="13424408" y="0"/>
                    <a:pt x="13428218" y="3810"/>
                    <a:pt x="13428218" y="8509"/>
                  </a:cubicBezTo>
                  <a:lnTo>
                    <a:pt x="13428218" y="544957"/>
                  </a:lnTo>
                  <a:cubicBezTo>
                    <a:pt x="13428218" y="549656"/>
                    <a:pt x="13424408" y="553466"/>
                    <a:pt x="13419710" y="553466"/>
                  </a:cubicBezTo>
                  <a:lnTo>
                    <a:pt x="8509" y="553466"/>
                  </a:lnTo>
                  <a:cubicBezTo>
                    <a:pt x="3810" y="553466"/>
                    <a:pt x="0" y="549656"/>
                    <a:pt x="0" y="544957"/>
                  </a:cubicBezTo>
                  <a:lnTo>
                    <a:pt x="0" y="8509"/>
                  </a:lnTo>
                  <a:cubicBezTo>
                    <a:pt x="0" y="3810"/>
                    <a:pt x="3810" y="0"/>
                    <a:pt x="8509" y="0"/>
                  </a:cubicBezTo>
                  <a:moveTo>
                    <a:pt x="8509" y="16891"/>
                  </a:moveTo>
                  <a:lnTo>
                    <a:pt x="8509" y="8509"/>
                  </a:lnTo>
                  <a:lnTo>
                    <a:pt x="17018" y="8509"/>
                  </a:lnTo>
                  <a:lnTo>
                    <a:pt x="17018" y="544957"/>
                  </a:lnTo>
                  <a:lnTo>
                    <a:pt x="8509" y="544957"/>
                  </a:lnTo>
                  <a:lnTo>
                    <a:pt x="8509" y="536448"/>
                  </a:lnTo>
                  <a:lnTo>
                    <a:pt x="13419710" y="536448"/>
                  </a:lnTo>
                  <a:lnTo>
                    <a:pt x="13419710" y="544957"/>
                  </a:lnTo>
                  <a:lnTo>
                    <a:pt x="13411200" y="544957"/>
                  </a:lnTo>
                  <a:lnTo>
                    <a:pt x="13411200" y="8509"/>
                  </a:lnTo>
                  <a:lnTo>
                    <a:pt x="13419710" y="8509"/>
                  </a:lnTo>
                  <a:lnTo>
                    <a:pt x="13419710" y="17018"/>
                  </a:lnTo>
                  <a:lnTo>
                    <a:pt x="8509" y="17018"/>
                  </a:lnTo>
                  <a:close/>
                </a:path>
              </a:pathLst>
            </a:custGeom>
            <a:solidFill>
              <a:srgbClr val="CCCCCC"/>
            </a:solidFill>
          </p:spPr>
        </p:sp>
      </p:grpSp>
      <p:grpSp>
        <p:nvGrpSpPr>
          <p:cNvPr name="Group 21" id="21"/>
          <p:cNvGrpSpPr/>
          <p:nvPr/>
        </p:nvGrpSpPr>
        <p:grpSpPr>
          <a:xfrm rot="0">
            <a:off x="2779776" y="1536192"/>
            <a:ext cx="9985248" cy="438912"/>
            <a:chOff x="0" y="0"/>
            <a:chExt cx="13313664" cy="585216"/>
          </a:xfrm>
        </p:grpSpPr>
        <p:sp>
          <p:nvSpPr>
            <p:cNvPr name="Freeform 22" id="22"/>
            <p:cNvSpPr/>
            <p:nvPr/>
          </p:nvSpPr>
          <p:spPr>
            <a:xfrm flipH="false" flipV="false" rot="0">
              <a:off x="0" y="0"/>
              <a:ext cx="13313665" cy="585216"/>
            </a:xfrm>
            <a:custGeom>
              <a:avLst/>
              <a:gdLst/>
              <a:ahLst/>
              <a:cxnLst/>
              <a:rect r="r" b="b" t="t" l="l"/>
              <a:pathLst>
                <a:path h="585216" w="13313665">
                  <a:moveTo>
                    <a:pt x="0" y="0"/>
                  </a:moveTo>
                  <a:lnTo>
                    <a:pt x="13313665" y="0"/>
                  </a:lnTo>
                  <a:lnTo>
                    <a:pt x="13313665" y="585216"/>
                  </a:lnTo>
                  <a:lnTo>
                    <a:pt x="0" y="585216"/>
                  </a:lnTo>
                  <a:close/>
                </a:path>
              </a:pathLst>
            </a:custGeom>
            <a:blipFill>
              <a:blip r:embed="rId8">
                <a:alphaModFix amt="0"/>
              </a:blip>
              <a:stretch>
                <a:fillRect l="0" t="-393284" r="0" b="-393284"/>
              </a:stretch>
            </a:blipFill>
          </p:spPr>
        </p:sp>
        <p:sp>
          <p:nvSpPr>
            <p:cNvPr name="TextBox 23" id="23"/>
            <p:cNvSpPr txBox="true"/>
            <p:nvPr/>
          </p:nvSpPr>
          <p:spPr>
            <a:xfrm>
              <a:off x="0" y="-38100"/>
              <a:ext cx="13313664" cy="623316"/>
            </a:xfrm>
            <a:prstGeom prst="rect">
              <a:avLst/>
            </a:prstGeom>
          </p:spPr>
          <p:txBody>
            <a:bodyPr anchor="ctr" rtlCol="false" tIns="0" lIns="0" bIns="0" rIns="0"/>
            <a:lstStyle/>
            <a:p>
              <a:pPr algn="l">
                <a:lnSpc>
                  <a:spcPts val="2160"/>
                </a:lnSpc>
              </a:pPr>
              <a:r>
                <a:rPr lang="en-US" sz="1800" u="sng">
                  <a:solidFill>
                    <a:srgbClr val="607D8B"/>
                  </a:solidFill>
                  <a:latin typeface="Calibri (MS)"/>
                  <a:ea typeface="Calibri (MS)"/>
                  <a:cs typeface="Calibri (MS)"/>
                  <a:sym typeface="Calibri (MS)"/>
                  <a:hlinkClick r:id="rId10" tooltip="https://canva.link/ixge2us2grfod2l"/>
                </a:rPr>
                <a:t>[https://canva.link/ixge2us2grfod2l</a:t>
              </a:r>
            </a:p>
          </p:txBody>
        </p:sp>
      </p:grpSp>
      <p:grpSp>
        <p:nvGrpSpPr>
          <p:cNvPr name="Group 24" id="24"/>
          <p:cNvGrpSpPr/>
          <p:nvPr/>
        </p:nvGrpSpPr>
        <p:grpSpPr>
          <a:xfrm rot="0">
            <a:off x="1828800" y="7589520"/>
            <a:ext cx="14630400" cy="1188720"/>
            <a:chOff x="0" y="0"/>
            <a:chExt cx="19507200" cy="1584960"/>
          </a:xfrm>
        </p:grpSpPr>
        <p:sp>
          <p:nvSpPr>
            <p:cNvPr name="Freeform 25" id="25"/>
            <p:cNvSpPr/>
            <p:nvPr/>
          </p:nvSpPr>
          <p:spPr>
            <a:xfrm flipH="false" flipV="false" rot="0">
              <a:off x="0" y="0"/>
              <a:ext cx="19507200" cy="1584960"/>
            </a:xfrm>
            <a:custGeom>
              <a:avLst/>
              <a:gdLst/>
              <a:ahLst/>
              <a:cxnLst/>
              <a:rect r="r" b="b" t="t" l="l"/>
              <a:pathLst>
                <a:path h="1584960" w="19507200">
                  <a:moveTo>
                    <a:pt x="0" y="0"/>
                  </a:moveTo>
                  <a:lnTo>
                    <a:pt x="19507200" y="0"/>
                  </a:lnTo>
                  <a:lnTo>
                    <a:pt x="19507200" y="1584960"/>
                  </a:lnTo>
                  <a:lnTo>
                    <a:pt x="0" y="1584960"/>
                  </a:lnTo>
                  <a:close/>
                </a:path>
              </a:pathLst>
            </a:custGeom>
            <a:blipFill>
              <a:blip r:embed="rId8">
                <a:alphaModFix amt="0"/>
              </a:blip>
              <a:stretch>
                <a:fillRect l="0" t="-189815" r="0" b="-189815"/>
              </a:stretch>
            </a:blipFill>
          </p:spPr>
        </p:sp>
        <p:sp>
          <p:nvSpPr>
            <p:cNvPr name="TextBox 26" id="26"/>
            <p:cNvSpPr txBox="true"/>
            <p:nvPr/>
          </p:nvSpPr>
          <p:spPr>
            <a:xfrm>
              <a:off x="0" y="-47625"/>
              <a:ext cx="19507200" cy="1632585"/>
            </a:xfrm>
            <a:prstGeom prst="rect">
              <a:avLst/>
            </a:prstGeom>
          </p:spPr>
          <p:txBody>
            <a:bodyPr anchor="ctr" rtlCol="false" tIns="0" lIns="0" bIns="0" rIns="0"/>
            <a:lstStyle/>
            <a:p>
              <a:pPr algn="ctr">
                <a:lnSpc>
                  <a:spcPts val="2640"/>
                </a:lnSpc>
              </a:pPr>
              <a:r>
                <a:rPr lang="en-US" sz="2200" i="true">
                  <a:solidFill>
                    <a:srgbClr val="607D8B"/>
                  </a:solidFill>
                  <a:latin typeface="Calibri (MS) Italics"/>
                  <a:ea typeface="Calibri (MS) Italics"/>
                  <a:cs typeface="Calibri (MS) Italics"/>
                  <a:sym typeface="Calibri (MS) Italics"/>
                </a:rPr>
                <a:t>[Insert your project demo video.</a:t>
              </a:r>
            </a:p>
            <a:p>
              <a:pPr algn="ctr">
                <a:lnSpc>
                  <a:spcPts val="2640"/>
                </a:lnSpc>
              </a:pPr>
              <a:r>
                <a:rPr lang="en-US" sz="2200" i="true">
                  <a:solidFill>
                    <a:srgbClr val="607D8B"/>
                  </a:solidFill>
                  <a:latin typeface="Calibri (MS) Italics"/>
                  <a:ea typeface="Calibri (MS) Italics"/>
                  <a:cs typeface="Calibri (MS) Italics"/>
                  <a:sym typeface="Calibri (MS) Italics"/>
                </a:rPr>
                <a:t>You can embed a video your live project.]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260699" y="1224124"/>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Conclusion</a:t>
              </a:r>
            </a:p>
          </p:txBody>
        </p:sp>
      </p:grpSp>
      <p:sp>
        <p:nvSpPr>
          <p:cNvPr name="TextBox 9" id="9"/>
          <p:cNvSpPr txBox="true"/>
          <p:nvPr/>
        </p:nvSpPr>
        <p:spPr>
          <a:xfrm rot="0">
            <a:off x="342414" y="2206047"/>
            <a:ext cx="10515861" cy="7067550"/>
          </a:xfrm>
          <a:prstGeom prst="rect">
            <a:avLst/>
          </a:prstGeom>
        </p:spPr>
        <p:txBody>
          <a:bodyPr anchor="t" rtlCol="false" tIns="0" lIns="0" bIns="0" rIns="0">
            <a:spAutoFit/>
          </a:bodyPr>
          <a:lstStyle/>
          <a:p>
            <a:pPr algn="l">
              <a:lnSpc>
                <a:spcPts val="4320"/>
              </a:lnSpc>
            </a:pPr>
            <a:r>
              <a:rPr lang="en-US" sz="3600">
                <a:solidFill>
                  <a:srgbClr val="1A1A2E"/>
                </a:solidFill>
                <a:latin typeface="Lato"/>
                <a:ea typeface="Lato"/>
                <a:cs typeface="Lato"/>
                <a:sym typeface="Lato"/>
              </a:rPr>
              <a:t>The project fulfilled it’s objective of giving actionable, end-to-end marketing advice using  Microsoft Copilot Studio, Claude 4.6 Sonnet, and Google Gemini, transforming detailed CSV datasets into an interactive career guide that delivers targeted career guidance, actionable portfolio project ideas, and ATS-optimized "XYZ" resume templates. By effectively bridging critical knowledge gaps, this solution provides early-career marketing professionals with the structured clarity and strategic confidence necessary to successfully navigate modern hiring systems and accelerate their career trajectories.</a:t>
            </a:r>
          </a:p>
        </p:txBody>
      </p:sp>
      <p:grpSp>
        <p:nvGrpSpPr>
          <p:cNvPr name="Group 10" id="10"/>
          <p:cNvGrpSpPr/>
          <p:nvPr/>
        </p:nvGrpSpPr>
        <p:grpSpPr>
          <a:xfrm rot="0">
            <a:off x="10607040" y="6949440"/>
            <a:ext cx="6035040" cy="1005840"/>
            <a:chOff x="0" y="0"/>
            <a:chExt cx="8046720" cy="1341120"/>
          </a:xfrm>
        </p:grpSpPr>
        <p:sp>
          <p:nvSpPr>
            <p:cNvPr name="Freeform 11" id="11"/>
            <p:cNvSpPr/>
            <p:nvPr/>
          </p:nvSpPr>
          <p:spPr>
            <a:xfrm flipH="false" flipV="false" rot="0">
              <a:off x="0" y="0"/>
              <a:ext cx="8046720" cy="1341120"/>
            </a:xfrm>
            <a:custGeom>
              <a:avLst/>
              <a:gdLst/>
              <a:ahLst/>
              <a:cxnLst/>
              <a:rect r="r" b="b" t="t" l="l"/>
              <a:pathLst>
                <a:path h="1341120" w="8046720">
                  <a:moveTo>
                    <a:pt x="0" y="0"/>
                  </a:moveTo>
                  <a:lnTo>
                    <a:pt x="8046720" y="0"/>
                  </a:lnTo>
                  <a:lnTo>
                    <a:pt x="8046720" y="1341120"/>
                  </a:lnTo>
                  <a:lnTo>
                    <a:pt x="0" y="1341120"/>
                  </a:lnTo>
                  <a:close/>
                </a:path>
              </a:pathLst>
            </a:custGeom>
            <a:blipFill>
              <a:blip r:embed="rId8">
                <a:alphaModFix amt="0"/>
              </a:blip>
              <a:stretch>
                <a:fillRect l="0" t="-66910" r="0" b="-66910"/>
              </a:stretch>
            </a:blipFill>
          </p:spPr>
        </p:sp>
        <p:sp>
          <p:nvSpPr>
            <p:cNvPr name="TextBox 12" id="12"/>
            <p:cNvSpPr txBox="true"/>
            <p:nvPr/>
          </p:nvSpPr>
          <p:spPr>
            <a:xfrm>
              <a:off x="0" y="-9525"/>
              <a:ext cx="8046720" cy="1350645"/>
            </a:xfrm>
            <a:prstGeom prst="rect">
              <a:avLst/>
            </a:prstGeom>
          </p:spPr>
          <p:txBody>
            <a:bodyPr anchor="ctr" rtlCol="false" tIns="0" lIns="0" bIns="0" rIns="0"/>
            <a:lstStyle/>
            <a:p>
              <a:pPr algn="ctr">
                <a:lnSpc>
                  <a:spcPts val="3840"/>
                </a:lnSpc>
              </a:pPr>
              <a:r>
                <a:rPr lang="en-US" b="true" sz="3200" spc="400">
                  <a:solidFill>
                    <a:srgbClr val="FFFFFF"/>
                  </a:solidFill>
                  <a:latin typeface="Lato Bold"/>
                  <a:ea typeface="Lato Bold"/>
                  <a:cs typeface="Lato Bold"/>
                  <a:sym typeface="Lato Bold"/>
                </a:rPr>
                <a:t>CONCLUSION</a:t>
              </a:r>
            </a:p>
          </p:txBody>
        </p:sp>
      </p:grpSp>
      <p:sp>
        <p:nvSpPr>
          <p:cNvPr name="Freeform 13" id="13"/>
          <p:cNvSpPr/>
          <p:nvPr/>
        </p:nvSpPr>
        <p:spPr>
          <a:xfrm flipH="false" flipV="false" rot="0">
            <a:off x="11077150" y="3075170"/>
            <a:ext cx="6922392" cy="5217753"/>
          </a:xfrm>
          <a:custGeom>
            <a:avLst/>
            <a:gdLst/>
            <a:ahLst/>
            <a:cxnLst/>
            <a:rect r="r" b="b" t="t" l="l"/>
            <a:pathLst>
              <a:path h="5217753" w="6922392">
                <a:moveTo>
                  <a:pt x="0" y="0"/>
                </a:moveTo>
                <a:lnTo>
                  <a:pt x="6922392" y="0"/>
                </a:lnTo>
                <a:lnTo>
                  <a:pt x="6922392" y="5217753"/>
                </a:lnTo>
                <a:lnTo>
                  <a:pt x="0" y="52177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246497" y="1227125"/>
            <a:ext cx="16459200" cy="877824"/>
            <a:chOff x="0" y="0"/>
            <a:chExt cx="21945600" cy="1170432"/>
          </a:xfrm>
        </p:grpSpPr>
        <p:sp>
          <p:nvSpPr>
            <p:cNvPr name="Freeform 7" id="7"/>
            <p:cNvSpPr/>
            <p:nvPr/>
          </p:nvSpPr>
          <p:spPr>
            <a:xfrm flipH="false" flipV="false" rot="0">
              <a:off x="0" y="0"/>
              <a:ext cx="21945600" cy="1170432"/>
            </a:xfrm>
            <a:custGeom>
              <a:avLst/>
              <a:gdLst/>
              <a:ahLst/>
              <a:cxnLst/>
              <a:rect r="r" b="b" t="t" l="l"/>
              <a:pathLst>
                <a:path h="1170432" w="21945600">
                  <a:moveTo>
                    <a:pt x="0" y="0"/>
                  </a:moveTo>
                  <a:lnTo>
                    <a:pt x="21945600" y="0"/>
                  </a:lnTo>
                  <a:lnTo>
                    <a:pt x="21945600" y="1170432"/>
                  </a:lnTo>
                  <a:lnTo>
                    <a:pt x="0" y="1170432"/>
                  </a:lnTo>
                  <a:close/>
                </a:path>
              </a:pathLst>
            </a:custGeom>
            <a:blipFill>
              <a:blip r:embed="rId8">
                <a:alphaModFix amt="0"/>
              </a:blip>
              <a:stretch>
                <a:fillRect l="0" t="-315344" r="0" b="-315344"/>
              </a:stretch>
            </a:blipFill>
          </p:spPr>
        </p:sp>
        <p:sp>
          <p:nvSpPr>
            <p:cNvPr name="TextBox 8" id="8"/>
            <p:cNvSpPr txBox="true"/>
            <p:nvPr/>
          </p:nvSpPr>
          <p:spPr>
            <a:xfrm>
              <a:off x="0" y="-9525"/>
              <a:ext cx="21945600" cy="1179957"/>
            </a:xfrm>
            <a:prstGeom prst="rect">
              <a:avLst/>
            </a:prstGeom>
          </p:spPr>
          <p:txBody>
            <a:bodyPr anchor="ctr" rtlCol="false" tIns="0" lIns="0" bIns="0" rIns="0"/>
            <a:lstStyle/>
            <a:p>
              <a:pPr algn="l">
                <a:lnSpc>
                  <a:spcPts val="4800"/>
                </a:lnSpc>
              </a:pPr>
              <a:r>
                <a:rPr lang="en-US" sz="4000" b="true">
                  <a:solidFill>
                    <a:srgbClr val="1B3A8A"/>
                  </a:solidFill>
                  <a:latin typeface="Lato Bold"/>
                  <a:ea typeface="Lato Bold"/>
                  <a:cs typeface="Lato Bold"/>
                  <a:sym typeface="Lato Bold"/>
                </a:rPr>
                <a:t>Future Scope</a:t>
              </a:r>
            </a:p>
          </p:txBody>
        </p:sp>
      </p:grpSp>
      <p:sp>
        <p:nvSpPr>
          <p:cNvPr name="Freeform 9" id="9"/>
          <p:cNvSpPr/>
          <p:nvPr/>
        </p:nvSpPr>
        <p:spPr>
          <a:xfrm flipH="false" flipV="false" rot="0">
            <a:off x="10198066" y="2231597"/>
            <a:ext cx="5612693" cy="5823806"/>
          </a:xfrm>
          <a:custGeom>
            <a:avLst/>
            <a:gdLst/>
            <a:ahLst/>
            <a:cxnLst/>
            <a:rect r="r" b="b" t="t" l="l"/>
            <a:pathLst>
              <a:path h="5823806" w="5612693">
                <a:moveTo>
                  <a:pt x="0" y="0"/>
                </a:moveTo>
                <a:lnTo>
                  <a:pt x="5612693" y="0"/>
                </a:lnTo>
                <a:lnTo>
                  <a:pt x="5612693" y="5823806"/>
                </a:lnTo>
                <a:lnTo>
                  <a:pt x="0" y="58238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337937" y="2200399"/>
            <a:ext cx="8806063" cy="6524625"/>
          </a:xfrm>
          <a:prstGeom prst="rect">
            <a:avLst/>
          </a:prstGeom>
        </p:spPr>
        <p:txBody>
          <a:bodyPr anchor="t" rtlCol="false" tIns="0" lIns="0" bIns="0" rIns="0">
            <a:spAutoFit/>
          </a:bodyPr>
          <a:lstStyle/>
          <a:p>
            <a:pPr algn="l">
              <a:lnSpc>
                <a:spcPts val="4320"/>
              </a:lnSpc>
            </a:pPr>
            <a:r>
              <a:rPr lang="en-US" sz="3600">
                <a:solidFill>
                  <a:srgbClr val="1A1A2E"/>
                </a:solidFill>
                <a:latin typeface="Lato"/>
                <a:ea typeface="Lato"/>
                <a:cs typeface="Lato"/>
                <a:sym typeface="Lato"/>
              </a:rPr>
              <a:t>The scope of this project can be expanded to include a broader spectrum of both linear and non-linear career paths beyond marketing.</a:t>
            </a:r>
          </a:p>
          <a:p>
            <a:pPr algn="l">
              <a:lnSpc>
                <a:spcPts val="4320"/>
              </a:lnSpc>
            </a:pPr>
            <a:r>
              <a:rPr lang="en-US" sz="3600">
                <a:solidFill>
                  <a:srgbClr val="1A1A2E"/>
                </a:solidFill>
                <a:latin typeface="Lato"/>
                <a:ea typeface="Lato"/>
                <a:cs typeface="Lato"/>
                <a:sym typeface="Lato"/>
              </a:rPr>
              <a:t>To enhance its real-time utility, future iterations will integrate live web-scraping capabilities, allowing the chatbot to continuously update its knowledge base with the latest job market trends, salary data, and emerging skill requirements, enabling better clarity and empowerment to a larger audience.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949148"/>
            <a:ext cx="18288000" cy="337852"/>
          </a:xfrm>
          <a:custGeom>
            <a:avLst/>
            <a:gdLst/>
            <a:ahLst/>
            <a:cxnLst/>
            <a:rect r="r" b="b" t="t" l="l"/>
            <a:pathLst>
              <a:path h="337852" w="18288000">
                <a:moveTo>
                  <a:pt x="0" y="0"/>
                </a:moveTo>
                <a:lnTo>
                  <a:pt x="18288000" y="0"/>
                </a:lnTo>
                <a:lnTo>
                  <a:pt x="18288000" y="337852"/>
                </a:lnTo>
                <a:lnTo>
                  <a:pt x="0" y="3378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486346"/>
            <a:ext cx="18288000" cy="1334757"/>
          </a:xfrm>
          <a:custGeom>
            <a:avLst/>
            <a:gdLst/>
            <a:ahLst/>
            <a:cxnLst/>
            <a:rect r="r" b="b" t="t" l="l"/>
            <a:pathLst>
              <a:path h="1334757" w="18288000">
                <a:moveTo>
                  <a:pt x="0" y="0"/>
                </a:moveTo>
                <a:lnTo>
                  <a:pt x="18288000" y="0"/>
                </a:lnTo>
                <a:lnTo>
                  <a:pt x="18288000" y="1334757"/>
                </a:lnTo>
                <a:lnTo>
                  <a:pt x="0" y="13347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641393" y="110328"/>
            <a:ext cx="1930175" cy="627745"/>
            <a:chOff x="0" y="0"/>
            <a:chExt cx="2573566" cy="836994"/>
          </a:xfrm>
        </p:grpSpPr>
        <p:sp>
          <p:nvSpPr>
            <p:cNvPr name="Freeform 5" id="5" descr="A black and white logo  AI-generated content may be incorrect."/>
            <p:cNvSpPr/>
            <p:nvPr/>
          </p:nvSpPr>
          <p:spPr>
            <a:xfrm flipH="false" flipV="false" rot="0">
              <a:off x="0" y="0"/>
              <a:ext cx="2573528" cy="837057"/>
            </a:xfrm>
            <a:custGeom>
              <a:avLst/>
              <a:gdLst/>
              <a:ahLst/>
              <a:cxnLst/>
              <a:rect r="r" b="b" t="t" l="l"/>
              <a:pathLst>
                <a:path h="837057" w="2573528">
                  <a:moveTo>
                    <a:pt x="0" y="0"/>
                  </a:moveTo>
                  <a:lnTo>
                    <a:pt x="2573528" y="0"/>
                  </a:lnTo>
                  <a:lnTo>
                    <a:pt x="2573528" y="837057"/>
                  </a:lnTo>
                  <a:lnTo>
                    <a:pt x="0" y="837057"/>
                  </a:lnTo>
                  <a:lnTo>
                    <a:pt x="0" y="0"/>
                  </a:lnTo>
                  <a:close/>
                </a:path>
              </a:pathLst>
            </a:custGeom>
            <a:blipFill>
              <a:blip r:embed="rId7"/>
              <a:stretch>
                <a:fillRect l="0" t="0" r="-1" b="7"/>
              </a:stretch>
            </a:blipFill>
          </p:spPr>
        </p:sp>
      </p:grpSp>
      <p:grpSp>
        <p:nvGrpSpPr>
          <p:cNvPr name="Group 6" id="6"/>
          <p:cNvGrpSpPr/>
          <p:nvPr/>
        </p:nvGrpSpPr>
        <p:grpSpPr>
          <a:xfrm rot="0">
            <a:off x="1828800" y="6035040"/>
            <a:ext cx="14630400" cy="822960"/>
            <a:chOff x="0" y="0"/>
            <a:chExt cx="19507200" cy="1097280"/>
          </a:xfrm>
        </p:grpSpPr>
        <p:sp>
          <p:nvSpPr>
            <p:cNvPr name="Freeform 7" id="7"/>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8">
                <a:alphaModFix amt="0"/>
              </a:blip>
              <a:stretch>
                <a:fillRect l="0" t="-296400" r="0" b="-296400"/>
              </a:stretch>
            </a:blipFill>
          </p:spPr>
        </p:sp>
        <p:sp>
          <p:nvSpPr>
            <p:cNvPr name="TextBox 8" id="8"/>
            <p:cNvSpPr txBox="true"/>
            <p:nvPr/>
          </p:nvSpPr>
          <p:spPr>
            <a:xfrm>
              <a:off x="0" y="-9525"/>
              <a:ext cx="19507200" cy="1106805"/>
            </a:xfrm>
            <a:prstGeom prst="rect">
              <a:avLst/>
            </a:prstGeom>
          </p:spPr>
          <p:txBody>
            <a:bodyPr anchor="ctr" rtlCol="false" tIns="0" lIns="0" bIns="0" rIns="0"/>
            <a:lstStyle/>
            <a:p>
              <a:pPr algn="ctr">
                <a:lnSpc>
                  <a:spcPts val="3359"/>
                </a:lnSpc>
              </a:pPr>
              <a:r>
                <a:rPr lang="en-US" sz="2799" spc="399">
                  <a:solidFill>
                    <a:srgbClr val="000000"/>
                  </a:solidFill>
                  <a:latin typeface="Lato"/>
                  <a:ea typeface="Lato"/>
                  <a:cs typeface="Lato"/>
                  <a:sym typeface="Lato"/>
                </a:rPr>
                <a:t>AICW Fellowship  |  Student Project Presentation 2026</a:t>
              </a:r>
            </a:p>
          </p:txBody>
        </p:sp>
      </p:grpSp>
      <p:grpSp>
        <p:nvGrpSpPr>
          <p:cNvPr name="Group 9" id="9"/>
          <p:cNvGrpSpPr/>
          <p:nvPr/>
        </p:nvGrpSpPr>
        <p:grpSpPr>
          <a:xfrm rot="0">
            <a:off x="1828800" y="7132320"/>
            <a:ext cx="14630400" cy="640080"/>
            <a:chOff x="0" y="0"/>
            <a:chExt cx="19507200" cy="853440"/>
          </a:xfrm>
        </p:grpSpPr>
        <p:sp>
          <p:nvSpPr>
            <p:cNvPr name="Freeform 10" id="10"/>
            <p:cNvSpPr/>
            <p:nvPr/>
          </p:nvSpPr>
          <p:spPr>
            <a:xfrm flipH="false" flipV="false" rot="0">
              <a:off x="0" y="0"/>
              <a:ext cx="19507200" cy="853440"/>
            </a:xfrm>
            <a:custGeom>
              <a:avLst/>
              <a:gdLst/>
              <a:ahLst/>
              <a:cxnLst/>
              <a:rect r="r" b="b" t="t" l="l"/>
              <a:pathLst>
                <a:path h="853440" w="19507200">
                  <a:moveTo>
                    <a:pt x="0" y="0"/>
                  </a:moveTo>
                  <a:lnTo>
                    <a:pt x="19507200" y="0"/>
                  </a:lnTo>
                  <a:lnTo>
                    <a:pt x="19507200" y="853440"/>
                  </a:lnTo>
                  <a:lnTo>
                    <a:pt x="0" y="853440"/>
                  </a:lnTo>
                  <a:close/>
                </a:path>
              </a:pathLst>
            </a:custGeom>
            <a:blipFill>
              <a:blip r:embed="rId8">
                <a:alphaModFix amt="0"/>
              </a:blip>
              <a:stretch>
                <a:fillRect l="0" t="-395372" r="0" b="-395372"/>
              </a:stretch>
            </a:blipFill>
          </p:spPr>
        </p:sp>
        <p:sp>
          <p:nvSpPr>
            <p:cNvPr name="TextBox 11" id="11"/>
            <p:cNvSpPr txBox="true"/>
            <p:nvPr/>
          </p:nvSpPr>
          <p:spPr>
            <a:xfrm>
              <a:off x="0" y="-9525"/>
              <a:ext cx="19507200" cy="862965"/>
            </a:xfrm>
            <a:prstGeom prst="rect">
              <a:avLst/>
            </a:prstGeom>
          </p:spPr>
          <p:txBody>
            <a:bodyPr anchor="ctr" rtlCol="false" tIns="0" lIns="0" bIns="0" rIns="0"/>
            <a:lstStyle/>
            <a:p>
              <a:pPr algn="ctr">
                <a:lnSpc>
                  <a:spcPts val="2640"/>
                </a:lnSpc>
              </a:pPr>
              <a:r>
                <a:rPr lang="en-US" sz="2200">
                  <a:solidFill>
                    <a:srgbClr val="000000"/>
                  </a:solidFill>
                  <a:latin typeface="Lato"/>
                  <a:ea typeface="Lato"/>
                  <a:cs typeface="Lato"/>
                  <a:sym typeface="Lato"/>
                </a:rPr>
                <a:t>  LinkedIn  |   Edunet Foundation</a:t>
              </a:r>
            </a:p>
          </p:txBody>
        </p:sp>
      </p:grpSp>
      <p:sp>
        <p:nvSpPr>
          <p:cNvPr name="TextBox 12" id="12"/>
          <p:cNvSpPr txBox="true"/>
          <p:nvPr/>
        </p:nvSpPr>
        <p:spPr>
          <a:xfrm rot="0">
            <a:off x="5265963" y="2515238"/>
            <a:ext cx="7756074" cy="3245482"/>
          </a:xfrm>
          <a:prstGeom prst="rect">
            <a:avLst/>
          </a:prstGeom>
        </p:spPr>
        <p:txBody>
          <a:bodyPr anchor="t" rtlCol="false" tIns="0" lIns="0" bIns="0" rIns="0">
            <a:spAutoFit/>
          </a:bodyPr>
          <a:lstStyle/>
          <a:p>
            <a:pPr algn="ctr">
              <a:lnSpc>
                <a:spcPts val="21372"/>
              </a:lnSpc>
            </a:pPr>
            <a:r>
              <a:rPr lang="en-US" sz="9999" b="true">
                <a:solidFill>
                  <a:srgbClr val="0D358D"/>
                </a:solidFill>
                <a:latin typeface="Lato Bold"/>
                <a:ea typeface="Lato Bold"/>
                <a:cs typeface="Lato Bold"/>
                <a:sym typeface="Lat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DAHGEExSzWA</dc:identifier>
  <dcterms:modified xsi:type="dcterms:W3CDTF">2011-08-01T06:04:30Z</dcterms:modified>
  <cp:revision>1</cp:revision>
  <dc:title>AI Fellowship Project Template2026 (1) (1)-2.pptx</dc:title>
</cp:coreProperties>
</file>